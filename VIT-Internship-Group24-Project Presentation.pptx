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6"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8" r:id="rId17"/>
    <p:sldId id="271" r:id="rId18"/>
    <p:sldId id="272" r:id="rId19"/>
    <p:sldId id="273"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300" b="1">
                <a:latin typeface="Arial"/>
                <a:ea typeface="Arial"/>
                <a:cs typeface="Arial"/>
                <a:sym typeface="Arial"/>
              </a:rPr>
              <a:t>Title Slide</a:t>
            </a:r>
            <a:endParaRPr sz="1300" b="1">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Project Name: The title of the AWS-based project.</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Team Members: Names and roles of all team members.</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Date: Presentation date.</a:t>
            </a:r>
            <a:endParaRPr sz="1100">
              <a:latin typeface="Arial"/>
              <a:ea typeface="Arial"/>
              <a:cs typeface="Arial"/>
              <a:sym typeface="Arial"/>
            </a:endParaRPr>
          </a:p>
        </p:txBody>
      </p:sp>
      <p:sp>
        <p:nvSpPr>
          <p:cNvPr id="113" name="Google Shape;11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300" b="1">
                <a:latin typeface="Arial"/>
                <a:ea typeface="Arial"/>
                <a:cs typeface="Arial"/>
                <a:sym typeface="Arial"/>
              </a:rPr>
              <a:t>Introduction</a:t>
            </a:r>
            <a:endParaRPr sz="1300" b="1">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Brief Outline: A summary of what the project is about.</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Objectives: High-level goals to be covered in the presentation.</a:t>
            </a:r>
            <a:endParaRPr sz="1100">
              <a:latin typeface="Arial"/>
              <a:ea typeface="Arial"/>
              <a:cs typeface="Arial"/>
              <a:sym typeface="Arial"/>
            </a:endParaRPr>
          </a:p>
        </p:txBody>
      </p:sp>
      <p:sp>
        <p:nvSpPr>
          <p:cNvPr id="122" name="Google Shape;12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9197220ddd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g29197220ddd_0_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r>
              <a:rPr lang="en-US" sz="1300" b="1">
                <a:latin typeface="Arial"/>
                <a:ea typeface="Arial"/>
                <a:cs typeface="Arial"/>
                <a:sym typeface="Arial"/>
              </a:rPr>
              <a:t>Project Objectives</a:t>
            </a:r>
            <a:endParaRPr sz="1300" b="1">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Goals: Specific milestones or deliverables.</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Expected Outcomes: What the project aims to achieve.</a:t>
            </a:r>
            <a:endParaRPr sz="1100">
              <a:latin typeface="Arial"/>
              <a:ea typeface="Arial"/>
              <a:cs typeface="Arial"/>
              <a:sym typeface="Arial"/>
            </a:endParaRPr>
          </a:p>
        </p:txBody>
      </p:sp>
      <p:sp>
        <p:nvSpPr>
          <p:cNvPr id="131" name="Google Shape;131;g29197220ddd_0_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9197220ddd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29197220ddd_0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r>
              <a:rPr lang="en-US" sz="1300" b="1">
                <a:latin typeface="Arial"/>
                <a:ea typeface="Arial"/>
                <a:cs typeface="Arial"/>
                <a:sym typeface="Arial"/>
              </a:rPr>
              <a:t>Project Scope</a:t>
            </a:r>
            <a:endParaRPr sz="1300" b="1">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Statement: The project statement as provided by the instructor.</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Scope Boundaries: What is and isn't covered by the project.</a:t>
            </a:r>
            <a:endParaRPr sz="1300" b="1">
              <a:latin typeface="Arial"/>
              <a:ea typeface="Arial"/>
              <a:cs typeface="Arial"/>
              <a:sym typeface="Arial"/>
            </a:endParaRPr>
          </a:p>
        </p:txBody>
      </p:sp>
      <p:sp>
        <p:nvSpPr>
          <p:cNvPr id="140" name="Google Shape;140;g29197220ddd_0_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ecb6c3cdd7_3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2ecb6c3cdd7_3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r>
              <a:rPr lang="en-US" sz="1300" b="1">
                <a:latin typeface="Arial"/>
                <a:ea typeface="Arial"/>
                <a:cs typeface="Arial"/>
                <a:sym typeface="Arial"/>
              </a:rPr>
              <a:t>Project Scope</a:t>
            </a:r>
            <a:endParaRPr sz="1300" b="1">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Statement: The project statement as provided by the instructor.</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Scope Boundaries: What is and isn't covered by the project.</a:t>
            </a:r>
            <a:endParaRPr sz="1300" b="1">
              <a:latin typeface="Arial"/>
              <a:ea typeface="Arial"/>
              <a:cs typeface="Arial"/>
              <a:sym typeface="Arial"/>
            </a:endParaRPr>
          </a:p>
        </p:txBody>
      </p:sp>
      <p:sp>
        <p:nvSpPr>
          <p:cNvPr id="149" name="Google Shape;149;g2ecb6c3cdd7_3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9197220ddd_0_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29197220ddd_0_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r>
              <a:rPr lang="en-US" sz="1300" b="1">
                <a:latin typeface="Arial"/>
                <a:ea typeface="Arial"/>
                <a:cs typeface="Arial"/>
                <a:sym typeface="Arial"/>
              </a:rPr>
              <a:t>Individual Contributions</a:t>
            </a:r>
            <a:endParaRPr sz="1300" b="1">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Member 1: Specific role and tasks performed.</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Member 2: Specific role and tasks performed.</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Member 3: Specific role and tasks performed.</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Member 4: Specific role and tasks performed.</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Font typeface="Arial"/>
              <a:buChar char="●"/>
            </a:pPr>
            <a:r>
              <a:rPr lang="en-US" sz="1100">
                <a:latin typeface="Arial"/>
                <a:ea typeface="Arial"/>
                <a:cs typeface="Arial"/>
                <a:sym typeface="Arial"/>
              </a:rPr>
              <a:t>…</a:t>
            </a:r>
            <a:endParaRPr sz="1100">
              <a:latin typeface="Arial"/>
              <a:ea typeface="Arial"/>
              <a:cs typeface="Arial"/>
              <a:sym typeface="Arial"/>
            </a:endParaRPr>
          </a:p>
        </p:txBody>
      </p:sp>
      <p:sp>
        <p:nvSpPr>
          <p:cNvPr id="158" name="Google Shape;158;g29197220ddd_0_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9197220ddd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g29197220ddd_0_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r>
              <a:rPr lang="en-US" sz="1300" b="1">
                <a:latin typeface="Arial"/>
                <a:ea typeface="Arial"/>
                <a:cs typeface="Arial"/>
                <a:sym typeface="Arial"/>
              </a:rPr>
              <a:t>Project Architecture</a:t>
            </a:r>
            <a:endParaRPr sz="1300" b="1">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AWS Services: List of AWS services used.</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Interaction: How these services work together.</a:t>
            </a:r>
            <a:endParaRPr sz="1300" b="1">
              <a:latin typeface="Arial"/>
              <a:ea typeface="Arial"/>
              <a:cs typeface="Arial"/>
              <a:sym typeface="Arial"/>
            </a:endParaRPr>
          </a:p>
        </p:txBody>
      </p:sp>
      <p:sp>
        <p:nvSpPr>
          <p:cNvPr id="167" name="Google Shape;167;g29197220ddd_0_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29197220ddd_0_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g29197220ddd_0_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r>
              <a:rPr lang="en-US" sz="1300" b="1">
                <a:latin typeface="Arial"/>
                <a:ea typeface="Arial"/>
                <a:cs typeface="Arial"/>
                <a:sym typeface="Arial"/>
              </a:rPr>
              <a:t>Key Concepts</a:t>
            </a:r>
            <a:endParaRPr sz="1300" b="1">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Features: Important AWS features utilized.</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Services: Key AWS services employed and their significance.</a:t>
            </a:r>
            <a:endParaRPr sz="1100">
              <a:latin typeface="Arial"/>
              <a:ea typeface="Arial"/>
              <a:cs typeface="Arial"/>
              <a:sym typeface="Arial"/>
            </a:endParaRPr>
          </a:p>
          <a:p>
            <a:pPr marL="0" lvl="0" indent="0" algn="l" rtl="0">
              <a:lnSpc>
                <a:spcPct val="115000"/>
              </a:lnSpc>
              <a:spcBef>
                <a:spcPts val="1200"/>
              </a:spcBef>
              <a:spcAft>
                <a:spcPts val="1200"/>
              </a:spcAft>
              <a:buNone/>
            </a:pPr>
            <a:endParaRPr sz="1300" b="1">
              <a:latin typeface="Arial"/>
              <a:ea typeface="Arial"/>
              <a:cs typeface="Arial"/>
              <a:sym typeface="Arial"/>
            </a:endParaRPr>
          </a:p>
        </p:txBody>
      </p:sp>
      <p:sp>
        <p:nvSpPr>
          <p:cNvPr id="176" name="Google Shape;176;g29197220ddd_0_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29197220ddd_0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g29197220ddd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r>
              <a:rPr lang="en-US" sz="1300" b="1">
                <a:latin typeface="Arial"/>
                <a:ea typeface="Arial"/>
                <a:cs typeface="Arial"/>
                <a:sym typeface="Arial"/>
              </a:rPr>
              <a:t>Challenges and Solutions</a:t>
            </a:r>
            <a:endParaRPr sz="1300" b="1">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Problem 1: Description and resolution.</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Problem 2: Description and resolution.</a:t>
            </a:r>
            <a:endParaRPr sz="1100">
              <a:latin typeface="Arial"/>
              <a:ea typeface="Arial"/>
              <a:cs typeface="Arial"/>
              <a:sym typeface="Arial"/>
            </a:endParaRPr>
          </a:p>
          <a:p>
            <a:pPr marL="0" lvl="0" indent="0" algn="l" rtl="0">
              <a:lnSpc>
                <a:spcPct val="115000"/>
              </a:lnSpc>
              <a:spcBef>
                <a:spcPts val="1200"/>
              </a:spcBef>
              <a:spcAft>
                <a:spcPts val="1200"/>
              </a:spcAft>
              <a:buNone/>
            </a:pPr>
            <a:endParaRPr sz="1300" b="1">
              <a:latin typeface="Arial"/>
              <a:ea typeface="Arial"/>
              <a:cs typeface="Arial"/>
              <a:sym typeface="Arial"/>
            </a:endParaRPr>
          </a:p>
        </p:txBody>
      </p:sp>
      <p:sp>
        <p:nvSpPr>
          <p:cNvPr id="185" name="Google Shape;185;g29197220ddd_0_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9197220ddd_0_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9197220ddd_0_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r>
              <a:rPr lang="en-US" sz="1300" b="1">
                <a:latin typeface="Arial"/>
                <a:ea typeface="Arial"/>
                <a:cs typeface="Arial"/>
                <a:sym typeface="Arial"/>
              </a:rPr>
              <a:t>Cost Analysis</a:t>
            </a:r>
            <a:endParaRPr sz="1300" b="1">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Cost Breakdown: Summary of AWS costs.</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Budgeting: How costs were managed or optimized.</a:t>
            </a:r>
            <a:endParaRPr sz="1300" b="1">
              <a:latin typeface="Arial"/>
              <a:ea typeface="Arial"/>
              <a:cs typeface="Arial"/>
              <a:sym typeface="Arial"/>
            </a:endParaRPr>
          </a:p>
        </p:txBody>
      </p:sp>
      <p:sp>
        <p:nvSpPr>
          <p:cNvPr id="194" name="Google Shape;194;g29197220ddd_0_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9197220ddd_0_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g29197220ddd_0_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r>
              <a:rPr lang="en-US" sz="1300" b="1">
                <a:latin typeface="Arial"/>
                <a:ea typeface="Arial"/>
                <a:cs typeface="Arial"/>
                <a:sym typeface="Arial"/>
              </a:rPr>
              <a:t>Security Measures</a:t>
            </a:r>
            <a:endParaRPr sz="1300" b="1">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Authentication: Steps taken for secure access.</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Data Protection: Measures for data security and privacy.</a:t>
            </a:r>
            <a:endParaRPr sz="1100">
              <a:latin typeface="Arial"/>
              <a:ea typeface="Arial"/>
              <a:cs typeface="Arial"/>
              <a:sym typeface="Arial"/>
            </a:endParaRPr>
          </a:p>
          <a:p>
            <a:pPr marL="0" lvl="0" indent="0" algn="l" rtl="0">
              <a:lnSpc>
                <a:spcPct val="115000"/>
              </a:lnSpc>
              <a:spcBef>
                <a:spcPts val="1200"/>
              </a:spcBef>
              <a:spcAft>
                <a:spcPts val="1200"/>
              </a:spcAft>
              <a:buNone/>
            </a:pPr>
            <a:endParaRPr sz="1300" b="1">
              <a:latin typeface="Arial"/>
              <a:ea typeface="Arial"/>
              <a:cs typeface="Arial"/>
              <a:sym typeface="Arial"/>
            </a:endParaRPr>
          </a:p>
        </p:txBody>
      </p:sp>
      <p:sp>
        <p:nvSpPr>
          <p:cNvPr id="203" name="Google Shape;203;g29197220ddd_0_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9197220ddd_0_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g29197220ddd_0_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r>
              <a:rPr lang="en-US" sz="1300" b="1">
                <a:latin typeface="Arial"/>
                <a:ea typeface="Arial"/>
                <a:cs typeface="Arial"/>
                <a:sym typeface="Arial"/>
              </a:rPr>
              <a:t>Lessons Learned</a:t>
            </a:r>
            <a:endParaRPr sz="1300" b="1">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Technical Insights: What was learned technically.</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Process Insights: What was learned about team collaboration.</a:t>
            </a:r>
            <a:endParaRPr sz="1300" b="1">
              <a:latin typeface="Arial"/>
              <a:ea typeface="Arial"/>
              <a:cs typeface="Arial"/>
              <a:sym typeface="Arial"/>
            </a:endParaRPr>
          </a:p>
        </p:txBody>
      </p:sp>
      <p:sp>
        <p:nvSpPr>
          <p:cNvPr id="212" name="Google Shape;212;g29197220ddd_0_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5ceb417138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 name="Google Shape;220;g25ceb417138_0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r>
              <a:rPr lang="en-US" sz="1300" b="1">
                <a:latin typeface="Arial"/>
                <a:ea typeface="Arial"/>
                <a:cs typeface="Arial"/>
                <a:sym typeface="Arial"/>
              </a:rPr>
              <a:t>Screenshots</a:t>
            </a:r>
            <a:endParaRPr sz="1300" b="1">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Screen Captures: Visual snapshots to showcase key elements.</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Context: Description explaining what the screenshot represents.</a:t>
            </a:r>
            <a:endParaRPr sz="1100">
              <a:latin typeface="Arial"/>
              <a:ea typeface="Arial"/>
              <a:cs typeface="Arial"/>
              <a:sym typeface="Arial"/>
            </a:endParaRPr>
          </a:p>
        </p:txBody>
      </p:sp>
      <p:sp>
        <p:nvSpPr>
          <p:cNvPr id="221" name="Google Shape;221;g25ceb417138_0_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5ceb417138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g25ceb417138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r>
              <a:rPr lang="en-US" sz="1300" b="1">
                <a:latin typeface="Arial"/>
                <a:ea typeface="Arial"/>
                <a:cs typeface="Arial"/>
                <a:sym typeface="Arial"/>
              </a:rPr>
              <a:t>Screenshots</a:t>
            </a:r>
            <a:endParaRPr sz="1300" b="1">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Screen Captures: Visual snapshots to showcase key elements.</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Context: Description explaining what the screenshot represents.</a:t>
            </a:r>
            <a:endParaRPr sz="1100">
              <a:latin typeface="Arial"/>
              <a:ea typeface="Arial"/>
              <a:cs typeface="Arial"/>
              <a:sym typeface="Arial"/>
            </a:endParaRPr>
          </a:p>
        </p:txBody>
      </p:sp>
      <p:sp>
        <p:nvSpPr>
          <p:cNvPr id="230" name="Google Shape;230;g25ceb417138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5ceb417138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g25ceb417138_0_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r>
              <a:rPr lang="en-US" sz="1300" b="1">
                <a:latin typeface="Arial"/>
                <a:ea typeface="Arial"/>
                <a:cs typeface="Arial"/>
                <a:sym typeface="Arial"/>
              </a:rPr>
              <a:t>Screenshots</a:t>
            </a:r>
            <a:endParaRPr sz="1300" b="1">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Screen Captures: Visual snapshots to showcase key elements.</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Context: Description explaining what the screenshot represents.</a:t>
            </a:r>
            <a:endParaRPr sz="1100">
              <a:latin typeface="Arial"/>
              <a:ea typeface="Arial"/>
              <a:cs typeface="Arial"/>
              <a:sym typeface="Arial"/>
            </a:endParaRPr>
          </a:p>
        </p:txBody>
      </p:sp>
      <p:sp>
        <p:nvSpPr>
          <p:cNvPr id="239" name="Google Shape;239;g25ceb417138_0_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9197220ddd_0_1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g29197220ddd_0_1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r>
              <a:rPr lang="en-US" sz="1300" b="1">
                <a:latin typeface="Arial"/>
                <a:ea typeface="Arial"/>
                <a:cs typeface="Arial"/>
                <a:sym typeface="Arial"/>
              </a:rPr>
              <a:t>Live Demo</a:t>
            </a:r>
            <a:endParaRPr sz="1300" b="1">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Demonstration: Real-time showcase of the project's functionality and features.</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A specific example or scenario illustrating the project in action.</a:t>
            </a:r>
            <a:endParaRPr sz="1300" b="1">
              <a:latin typeface="Arial"/>
              <a:ea typeface="Arial"/>
              <a:cs typeface="Arial"/>
              <a:sym typeface="Arial"/>
            </a:endParaRPr>
          </a:p>
        </p:txBody>
      </p:sp>
      <p:sp>
        <p:nvSpPr>
          <p:cNvPr id="248" name="Google Shape;248;g29197220ddd_0_1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9197220ddd_0_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g29197220ddd_0_10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r>
              <a:rPr lang="en-US" sz="1300" b="1">
                <a:latin typeface="Arial"/>
                <a:ea typeface="Arial"/>
                <a:cs typeface="Arial"/>
                <a:sym typeface="Arial"/>
              </a:rPr>
              <a:t>Future Scope</a:t>
            </a:r>
            <a:endParaRPr sz="1300" b="1">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Improvements: Potential updates or add-ons.</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Next Steps: Future phases or expansions.</a:t>
            </a:r>
            <a:endParaRPr sz="1300" b="1">
              <a:latin typeface="Arial"/>
              <a:ea typeface="Arial"/>
              <a:cs typeface="Arial"/>
              <a:sym typeface="Arial"/>
            </a:endParaRPr>
          </a:p>
        </p:txBody>
      </p:sp>
      <p:sp>
        <p:nvSpPr>
          <p:cNvPr id="257" name="Google Shape;257;g29197220ddd_0_10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9197220ddd_0_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g29197220ddd_0_1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r>
              <a:rPr lang="en-US" sz="1300" b="1">
                <a:latin typeface="Arial"/>
                <a:ea typeface="Arial"/>
                <a:cs typeface="Arial"/>
                <a:sym typeface="Arial"/>
              </a:rPr>
              <a:t>Q&amp;A</a:t>
            </a:r>
            <a:endParaRPr sz="1300" b="1">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Questions: Opening the floor for any questions from the audience.</a:t>
            </a:r>
            <a:endParaRPr sz="1100">
              <a:latin typeface="Arial"/>
              <a:ea typeface="Arial"/>
              <a:cs typeface="Arial"/>
              <a:sym typeface="Arial"/>
            </a:endParaRPr>
          </a:p>
          <a:p>
            <a:pPr marL="0" lvl="0" indent="0" algn="l" rtl="0">
              <a:lnSpc>
                <a:spcPct val="115000"/>
              </a:lnSpc>
              <a:spcBef>
                <a:spcPts val="1200"/>
              </a:spcBef>
              <a:spcAft>
                <a:spcPts val="1200"/>
              </a:spcAft>
              <a:buNone/>
            </a:pPr>
            <a:endParaRPr sz="1300" b="1">
              <a:latin typeface="Arial"/>
              <a:ea typeface="Arial"/>
              <a:cs typeface="Arial"/>
              <a:sym typeface="Arial"/>
            </a:endParaRPr>
          </a:p>
        </p:txBody>
      </p:sp>
      <p:sp>
        <p:nvSpPr>
          <p:cNvPr id="266" name="Google Shape;266;g29197220ddd_0_1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300" b="1">
                <a:latin typeface="Arial"/>
                <a:ea typeface="Arial"/>
                <a:cs typeface="Arial"/>
                <a:sym typeface="Arial"/>
              </a:rPr>
              <a:t>Thank You</a:t>
            </a:r>
            <a:endParaRPr sz="1300" b="1">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1100">
                <a:latin typeface="Arial"/>
                <a:ea typeface="Arial"/>
                <a:cs typeface="Arial"/>
                <a:sym typeface="Arial"/>
              </a:rPr>
              <a:t>Acknowledgments: Thanks to those who contributed.</a:t>
            </a:r>
            <a:endParaRPr sz="1100">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1100">
                <a:latin typeface="Arial"/>
                <a:ea typeface="Arial"/>
                <a:cs typeface="Arial"/>
                <a:sym typeface="Arial"/>
              </a:rPr>
              <a:t>Contact Info: How to reach the team for further queries.</a:t>
            </a:r>
            <a:endParaRPr sz="1300" b="1">
              <a:latin typeface="Arial"/>
              <a:ea typeface="Arial"/>
              <a:cs typeface="Arial"/>
              <a:sym typeface="Arial"/>
            </a:endParaRPr>
          </a:p>
          <a:p>
            <a:pPr marL="0" lvl="0" indent="0" algn="l" rtl="0">
              <a:spcBef>
                <a:spcPts val="1200"/>
              </a:spcBef>
              <a:spcAft>
                <a:spcPts val="0"/>
              </a:spcAft>
              <a:buNone/>
            </a:pPr>
            <a:endParaRPr/>
          </a:p>
        </p:txBody>
      </p:sp>
      <p:sp>
        <p:nvSpPr>
          <p:cNvPr id="293" name="Google Shape;293;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p:cSld name="Cover">
    <p:spTree>
      <p:nvGrpSpPr>
        <p:cNvPr id="1" name="Shape 15"/>
        <p:cNvGrpSpPr/>
        <p:nvPr/>
      </p:nvGrpSpPr>
      <p:grpSpPr>
        <a:xfrm>
          <a:off x="0" y="0"/>
          <a:ext cx="0" cy="0"/>
          <a:chOff x="0" y="0"/>
          <a:chExt cx="0" cy="0"/>
        </a:xfrm>
      </p:grpSpPr>
      <p:sp>
        <p:nvSpPr>
          <p:cNvPr id="16" name="Google Shape;16;p2"/>
          <p:cNvSpPr>
            <a:spLocks noGrp="1"/>
          </p:cNvSpPr>
          <p:nvPr>
            <p:ph type="pic" idx="2"/>
          </p:nvPr>
        </p:nvSpPr>
        <p:spPr>
          <a:xfrm>
            <a:off x="584579" y="0"/>
            <a:ext cx="7820167" cy="1787856"/>
          </a:xfrm>
          <a:prstGeom prst="rect">
            <a:avLst/>
          </a:prstGeom>
          <a:solidFill>
            <a:srgbClr val="D8D8D8"/>
          </a:solid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1pPr>
            <a:lvl2pPr marR="0" lvl="1" algn="l" rtl="0">
              <a:lnSpc>
                <a:spcPct val="90000"/>
              </a:lnSpc>
              <a:spcBef>
                <a:spcPts val="120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2pPr>
            <a:lvl3pPr marR="0" lvl="2" algn="l" rtl="0">
              <a:lnSpc>
                <a:spcPct val="90000"/>
              </a:lnSpc>
              <a:spcBef>
                <a:spcPts val="12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R="0" lvl="3" algn="l" rtl="0">
              <a:lnSpc>
                <a:spcPct val="90000"/>
              </a:lnSpc>
              <a:spcBef>
                <a:spcPts val="12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R="0" lvl="4" algn="l" rtl="0">
              <a:lnSpc>
                <a:spcPct val="90000"/>
              </a:lnSpc>
              <a:spcBef>
                <a:spcPts val="12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R="0" lvl="5" algn="l" rtl="0">
              <a:lnSpc>
                <a:spcPct val="90000"/>
              </a:lnSpc>
              <a:spcBef>
                <a:spcPts val="12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 name="Google Shape;17;p2"/>
          <p:cNvSpPr>
            <a:spLocks noGrp="1"/>
          </p:cNvSpPr>
          <p:nvPr>
            <p:ph type="pic" idx="3"/>
          </p:nvPr>
        </p:nvSpPr>
        <p:spPr>
          <a:xfrm>
            <a:off x="4494664" y="4237630"/>
            <a:ext cx="7697336" cy="2620370"/>
          </a:xfrm>
          <a:prstGeom prst="rect">
            <a:avLst/>
          </a:prstGeom>
          <a:solidFill>
            <a:srgbClr val="D8D8D8"/>
          </a:solid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1pPr>
            <a:lvl2pPr marR="0" lvl="1" algn="l" rtl="0">
              <a:lnSpc>
                <a:spcPct val="90000"/>
              </a:lnSpc>
              <a:spcBef>
                <a:spcPts val="120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2pPr>
            <a:lvl3pPr marR="0" lvl="2" algn="l" rtl="0">
              <a:lnSpc>
                <a:spcPct val="90000"/>
              </a:lnSpc>
              <a:spcBef>
                <a:spcPts val="12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R="0" lvl="3" algn="l" rtl="0">
              <a:lnSpc>
                <a:spcPct val="90000"/>
              </a:lnSpc>
              <a:spcBef>
                <a:spcPts val="12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R="0" lvl="4" algn="l" rtl="0">
              <a:lnSpc>
                <a:spcPct val="90000"/>
              </a:lnSpc>
              <a:spcBef>
                <a:spcPts val="12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R="0" lvl="5" algn="l" rtl="0">
              <a:lnSpc>
                <a:spcPct val="90000"/>
              </a:lnSpc>
              <a:spcBef>
                <a:spcPts val="12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1200"/>
              </a:spcBef>
              <a:spcAft>
                <a:spcPts val="0"/>
              </a:spcAft>
              <a:buClr>
                <a:schemeClr val="lt1"/>
              </a:buClr>
              <a:buSzPts val="2000"/>
              <a:buNone/>
              <a:defRPr sz="2000"/>
            </a:lvl2pPr>
            <a:lvl3pPr lvl="2" algn="ctr">
              <a:lnSpc>
                <a:spcPct val="90000"/>
              </a:lnSpc>
              <a:spcBef>
                <a:spcPts val="1200"/>
              </a:spcBef>
              <a:spcAft>
                <a:spcPts val="0"/>
              </a:spcAft>
              <a:buClr>
                <a:schemeClr val="lt1"/>
              </a:buClr>
              <a:buSzPts val="1800"/>
              <a:buNone/>
              <a:defRPr sz="1800"/>
            </a:lvl3pPr>
            <a:lvl4pPr lvl="3" algn="ctr">
              <a:lnSpc>
                <a:spcPct val="90000"/>
              </a:lnSpc>
              <a:spcBef>
                <a:spcPts val="1200"/>
              </a:spcBef>
              <a:spcAft>
                <a:spcPts val="0"/>
              </a:spcAft>
              <a:buClr>
                <a:schemeClr val="lt1"/>
              </a:buClr>
              <a:buSzPts val="1600"/>
              <a:buNone/>
              <a:defRPr sz="1600"/>
            </a:lvl4pPr>
            <a:lvl5pPr lvl="4" algn="ctr">
              <a:lnSpc>
                <a:spcPct val="90000"/>
              </a:lnSpc>
              <a:spcBef>
                <a:spcPts val="1200"/>
              </a:spcBef>
              <a:spcAft>
                <a:spcPts val="0"/>
              </a:spcAft>
              <a:buClr>
                <a:schemeClr val="lt1"/>
              </a:buClr>
              <a:buSzPts val="1600"/>
              <a:buNone/>
              <a:defRPr sz="1600"/>
            </a:lvl5pPr>
            <a:lvl6pPr lvl="5" algn="ctr">
              <a:lnSpc>
                <a:spcPct val="90000"/>
              </a:lnSpc>
              <a:spcBef>
                <a:spcPts val="12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grpSp>
        <p:nvGrpSpPr>
          <p:cNvPr id="22" name="Google Shape;22;p3"/>
          <p:cNvGrpSpPr/>
          <p:nvPr/>
        </p:nvGrpSpPr>
        <p:grpSpPr>
          <a:xfrm>
            <a:off x="-491" y="105"/>
            <a:ext cx="12191606" cy="6858056"/>
            <a:chOff x="15811498" y="12560299"/>
            <a:chExt cx="12250408" cy="6889749"/>
          </a:xfrm>
        </p:grpSpPr>
        <p:sp>
          <p:nvSpPr>
            <p:cNvPr id="23" name="Google Shape;23;p3"/>
            <p:cNvSpPr/>
            <p:nvPr/>
          </p:nvSpPr>
          <p:spPr>
            <a:xfrm>
              <a:off x="15811498" y="14681200"/>
              <a:ext cx="12247902" cy="4768848"/>
            </a:xfrm>
            <a:custGeom>
              <a:avLst/>
              <a:gdLst/>
              <a:ahLst/>
              <a:cxnLst/>
              <a:rect l="l" t="t" r="r" b="b"/>
              <a:pathLst>
                <a:path w="21600" h="21600" extrusionOk="0">
                  <a:moveTo>
                    <a:pt x="21600" y="8404"/>
                  </a:moveTo>
                  <a:lnTo>
                    <a:pt x="21600" y="0"/>
                  </a:lnTo>
                  <a:lnTo>
                    <a:pt x="19719" y="15882"/>
                  </a:lnTo>
                  <a:cubicBezTo>
                    <a:pt x="19674" y="16262"/>
                    <a:pt x="19533" y="16515"/>
                    <a:pt x="19378" y="16498"/>
                  </a:cubicBezTo>
                  <a:lnTo>
                    <a:pt x="2806" y="14369"/>
                  </a:lnTo>
                  <a:cubicBezTo>
                    <a:pt x="2730" y="14358"/>
                    <a:pt x="2659" y="14283"/>
                    <a:pt x="2600" y="14156"/>
                  </a:cubicBezTo>
                  <a:lnTo>
                    <a:pt x="0" y="8318"/>
                  </a:lnTo>
                  <a:lnTo>
                    <a:pt x="0" y="11568"/>
                  </a:lnTo>
                  <a:lnTo>
                    <a:pt x="423" y="12517"/>
                  </a:lnTo>
                  <a:cubicBezTo>
                    <a:pt x="665" y="13058"/>
                    <a:pt x="504" y="14076"/>
                    <a:pt x="184" y="14036"/>
                  </a:cubicBezTo>
                  <a:lnTo>
                    <a:pt x="0" y="14013"/>
                  </a:lnTo>
                  <a:lnTo>
                    <a:pt x="0" y="16463"/>
                  </a:lnTo>
                  <a:lnTo>
                    <a:pt x="2193" y="16745"/>
                  </a:lnTo>
                  <a:cubicBezTo>
                    <a:pt x="2269" y="16757"/>
                    <a:pt x="2341" y="16831"/>
                    <a:pt x="2399" y="16958"/>
                  </a:cubicBezTo>
                  <a:lnTo>
                    <a:pt x="4466" y="21600"/>
                  </a:lnTo>
                  <a:lnTo>
                    <a:pt x="5913" y="21600"/>
                  </a:lnTo>
                  <a:lnTo>
                    <a:pt x="4576" y="18597"/>
                  </a:lnTo>
                  <a:cubicBezTo>
                    <a:pt x="4334" y="18057"/>
                    <a:pt x="4495" y="17038"/>
                    <a:pt x="4815" y="17079"/>
                  </a:cubicBezTo>
                  <a:lnTo>
                    <a:pt x="18924" y="18891"/>
                  </a:lnTo>
                  <a:cubicBezTo>
                    <a:pt x="19143" y="18919"/>
                    <a:pt x="19293" y="19472"/>
                    <a:pt x="19230" y="20007"/>
                  </a:cubicBezTo>
                  <a:lnTo>
                    <a:pt x="19042" y="21594"/>
                  </a:lnTo>
                  <a:lnTo>
                    <a:pt x="20037" y="21594"/>
                  </a:lnTo>
                  <a:lnTo>
                    <a:pt x="20258" y="19719"/>
                  </a:lnTo>
                  <a:cubicBezTo>
                    <a:pt x="20303" y="19339"/>
                    <a:pt x="20444" y="19086"/>
                    <a:pt x="20599" y="19103"/>
                  </a:cubicBezTo>
                  <a:lnTo>
                    <a:pt x="21598" y="19230"/>
                  </a:lnTo>
                  <a:lnTo>
                    <a:pt x="21598" y="16780"/>
                  </a:lnTo>
                  <a:lnTo>
                    <a:pt x="21054" y="16711"/>
                  </a:lnTo>
                  <a:cubicBezTo>
                    <a:pt x="20834" y="16682"/>
                    <a:pt x="20684" y="16130"/>
                    <a:pt x="20747" y="15595"/>
                  </a:cubicBezTo>
                  <a:lnTo>
                    <a:pt x="21600" y="8404"/>
                  </a:lnTo>
                  <a:close/>
                </a:path>
              </a:pathLst>
            </a:custGeom>
            <a:gradFill>
              <a:gsLst>
                <a:gs pos="0">
                  <a:srgbClr val="76CEEF"/>
                </a:gs>
                <a:gs pos="100000">
                  <a:srgbClr val="1C6294"/>
                </a:gs>
              </a:gsLst>
              <a:path path="circle">
                <a:fillToRect l="100000" b="100000"/>
              </a:path>
              <a:tileRect t="-100000" r="-100000"/>
            </a:gradFill>
            <a:ln>
              <a:noFill/>
            </a:ln>
            <a:effectLst>
              <a:outerShdw blurRad="317500" dist="190500" dir="5400000" algn="t" rotWithShape="0">
                <a:srgbClr val="124163">
                  <a:alpha val="20000"/>
                </a:srgbClr>
              </a:outerShdw>
            </a:effectLst>
          </p:spPr>
          <p:txBody>
            <a:bodyPr spcFirstLastPara="1" wrap="square" lIns="38100" tIns="38100" rIns="38100" bIns="381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 name="Google Shape;24;p3"/>
            <p:cNvSpPr/>
            <p:nvPr/>
          </p:nvSpPr>
          <p:spPr>
            <a:xfrm>
              <a:off x="25920698" y="12560299"/>
              <a:ext cx="2141208" cy="1497312"/>
            </a:xfrm>
            <a:custGeom>
              <a:avLst/>
              <a:gdLst/>
              <a:ahLst/>
              <a:cxnLst/>
              <a:rect l="l" t="t" r="r" b="b"/>
              <a:pathLst>
                <a:path w="21600" h="21600" extrusionOk="0">
                  <a:moveTo>
                    <a:pt x="0" y="0"/>
                  </a:moveTo>
                  <a:lnTo>
                    <a:pt x="21600" y="21600"/>
                  </a:lnTo>
                  <a:lnTo>
                    <a:pt x="21600" y="12092"/>
                  </a:lnTo>
                  <a:lnTo>
                    <a:pt x="9506" y="0"/>
                  </a:lnTo>
                  <a:close/>
                </a:path>
              </a:pathLst>
            </a:custGeom>
            <a:gradFill>
              <a:gsLst>
                <a:gs pos="0">
                  <a:srgbClr val="76CEEF"/>
                </a:gs>
                <a:gs pos="100000">
                  <a:srgbClr val="1C6294"/>
                </a:gs>
              </a:gsLst>
              <a:path path="circle">
                <a:fillToRect l="100000" b="100000"/>
              </a:path>
              <a:tileRect t="-100000" r="-100000"/>
            </a:gradFill>
            <a:ln>
              <a:noFill/>
            </a:ln>
            <a:effectLst>
              <a:outerShdw blurRad="317500" dist="190500" dir="5400000" algn="t" rotWithShape="0">
                <a:srgbClr val="124163">
                  <a:alpha val="20000"/>
                </a:srgbClr>
              </a:outerShdw>
            </a:effectLst>
          </p:spPr>
          <p:txBody>
            <a:bodyPr spcFirstLastPara="1" wrap="square" lIns="38100" tIns="38100" rIns="38100" bIns="381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5" name="Google Shape;25;p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lt1"/>
              </a:buClr>
              <a:buSzPts val="1800"/>
              <a:buChar char="•"/>
              <a:defRPr/>
            </a:lvl1pPr>
            <a:lvl2pPr marL="914400" lvl="1" indent="-342900" algn="l" rtl="0">
              <a:lnSpc>
                <a:spcPct val="90000"/>
              </a:lnSpc>
              <a:spcBef>
                <a:spcPts val="1200"/>
              </a:spcBef>
              <a:spcAft>
                <a:spcPts val="0"/>
              </a:spcAft>
              <a:buClr>
                <a:schemeClr val="lt1"/>
              </a:buClr>
              <a:buSzPts val="1800"/>
              <a:buChar char="•"/>
              <a:defRPr/>
            </a:lvl2pPr>
            <a:lvl3pPr marL="1371600" lvl="2" indent="-342900" algn="l" rtl="0">
              <a:lnSpc>
                <a:spcPct val="90000"/>
              </a:lnSpc>
              <a:spcBef>
                <a:spcPts val="1200"/>
              </a:spcBef>
              <a:spcAft>
                <a:spcPts val="0"/>
              </a:spcAft>
              <a:buClr>
                <a:schemeClr val="lt1"/>
              </a:buClr>
              <a:buSzPts val="1800"/>
              <a:buChar char="•"/>
              <a:defRPr/>
            </a:lvl3pPr>
            <a:lvl4pPr marL="1828800" lvl="3" indent="-342900" algn="l" rtl="0">
              <a:lnSpc>
                <a:spcPct val="90000"/>
              </a:lnSpc>
              <a:spcBef>
                <a:spcPts val="1200"/>
              </a:spcBef>
              <a:spcAft>
                <a:spcPts val="0"/>
              </a:spcAft>
              <a:buClr>
                <a:schemeClr val="lt1"/>
              </a:buClr>
              <a:buSzPts val="1800"/>
              <a:buChar char="•"/>
              <a:defRPr/>
            </a:lvl4pPr>
            <a:lvl5pPr marL="2286000" lvl="4" indent="-342900" algn="l" rtl="0">
              <a:lnSpc>
                <a:spcPct val="90000"/>
              </a:lnSpc>
              <a:spcBef>
                <a:spcPts val="1200"/>
              </a:spcBef>
              <a:spcAft>
                <a:spcPts val="0"/>
              </a:spcAft>
              <a:buClr>
                <a:schemeClr val="lt1"/>
              </a:buClr>
              <a:buSzPts val="1800"/>
              <a:buChar char="•"/>
              <a:defRPr/>
            </a:lvl5pPr>
            <a:lvl6pPr marL="2743200" lvl="5" indent="-342900" algn="l" rtl="0">
              <a:lnSpc>
                <a:spcPct val="90000"/>
              </a:lnSpc>
              <a:spcBef>
                <a:spcPts val="12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6" name="Google Shape;26;p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8610600" y="6356350"/>
            <a:ext cx="2089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2">
  <p:cSld name="Title and Content 2">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
          <p:cNvSpPr txBox="1">
            <a:spLocks noGrp="1"/>
          </p:cNvSpPr>
          <p:nvPr>
            <p:ph type="body" idx="1"/>
          </p:nvPr>
        </p:nvSpPr>
        <p:spPr>
          <a:xfrm>
            <a:off x="838200" y="1825625"/>
            <a:ext cx="8316549"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1200"/>
              </a:spcBef>
              <a:spcAft>
                <a:spcPts val="0"/>
              </a:spcAft>
              <a:buClr>
                <a:schemeClr val="lt1"/>
              </a:buClr>
              <a:buSzPts val="1800"/>
              <a:buChar char="•"/>
              <a:defRPr/>
            </a:lvl2pPr>
            <a:lvl3pPr marL="1371600" lvl="2" indent="-342900" algn="l">
              <a:lnSpc>
                <a:spcPct val="90000"/>
              </a:lnSpc>
              <a:spcBef>
                <a:spcPts val="1200"/>
              </a:spcBef>
              <a:spcAft>
                <a:spcPts val="0"/>
              </a:spcAft>
              <a:buClr>
                <a:schemeClr val="lt1"/>
              </a:buClr>
              <a:buSzPts val="1800"/>
              <a:buChar char="•"/>
              <a:defRPr/>
            </a:lvl3pPr>
            <a:lvl4pPr marL="1828800" lvl="3" indent="-342900" algn="l">
              <a:lnSpc>
                <a:spcPct val="90000"/>
              </a:lnSpc>
              <a:spcBef>
                <a:spcPts val="1200"/>
              </a:spcBef>
              <a:spcAft>
                <a:spcPts val="0"/>
              </a:spcAft>
              <a:buClr>
                <a:schemeClr val="lt1"/>
              </a:buClr>
              <a:buSzPts val="1800"/>
              <a:buChar char="•"/>
              <a:defRPr/>
            </a:lvl4pPr>
            <a:lvl5pPr marL="2286000" lvl="4" indent="-342900" algn="l">
              <a:lnSpc>
                <a:spcPct val="90000"/>
              </a:lnSpc>
              <a:spcBef>
                <a:spcPts val="1200"/>
              </a:spcBef>
              <a:spcAft>
                <a:spcPts val="0"/>
              </a:spcAft>
              <a:buClr>
                <a:schemeClr val="lt1"/>
              </a:buClr>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4"/>
          <p:cNvSpPr txBox="1">
            <a:spLocks noGrp="1"/>
          </p:cNvSpPr>
          <p:nvPr>
            <p:ph type="sldNum" idx="12"/>
          </p:nvPr>
        </p:nvSpPr>
        <p:spPr>
          <a:xfrm>
            <a:off x="8271850" y="6356350"/>
            <a:ext cx="54414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3" name="Google Shape;33;p4"/>
          <p:cNvSpPr txBox="1">
            <a:spLocks noGrp="1"/>
          </p:cNvSpPr>
          <p:nvPr>
            <p:ph type="body" idx="2"/>
          </p:nvPr>
        </p:nvSpPr>
        <p:spPr>
          <a:xfrm>
            <a:off x="6785500" y="1690700"/>
            <a:ext cx="5406600" cy="5132700"/>
          </a:xfrm>
          <a:prstGeom prst="rect">
            <a:avLst/>
          </a:prstGeom>
        </p:spPr>
        <p:txBody>
          <a:bodyPr spcFirstLastPara="1" wrap="square" lIns="91425" tIns="45700" rIns="91425" bIns="45700" anchor="t" anchorCtr="0">
            <a:noAutofit/>
          </a:bodyPr>
          <a:lstStyle>
            <a:lvl1pPr marL="457200" lvl="0" indent="-406400">
              <a:spcBef>
                <a:spcPts val="1000"/>
              </a:spcBef>
              <a:spcAft>
                <a:spcPts val="0"/>
              </a:spcAft>
              <a:buSzPts val="2800"/>
              <a:buChar char="•"/>
              <a:defRPr/>
            </a:lvl1pPr>
            <a:lvl2pPr marL="914400" lvl="1" indent="-381000">
              <a:spcBef>
                <a:spcPts val="1200"/>
              </a:spcBef>
              <a:spcAft>
                <a:spcPts val="0"/>
              </a:spcAft>
              <a:buSzPts val="2400"/>
              <a:buChar char="•"/>
              <a:defRPr/>
            </a:lvl2pPr>
            <a:lvl3pPr marL="1371600" lvl="2" indent="-355600">
              <a:spcBef>
                <a:spcPts val="1200"/>
              </a:spcBef>
              <a:spcAft>
                <a:spcPts val="0"/>
              </a:spcAft>
              <a:buSzPts val="2000"/>
              <a:buChar char="•"/>
              <a:defRPr/>
            </a:lvl3pPr>
            <a:lvl4pPr marL="1828800" lvl="3" indent="-342900">
              <a:spcBef>
                <a:spcPts val="1200"/>
              </a:spcBef>
              <a:spcAft>
                <a:spcPts val="0"/>
              </a:spcAft>
              <a:buSzPts val="1800"/>
              <a:buChar char="•"/>
              <a:defRPr/>
            </a:lvl4pPr>
            <a:lvl5pPr marL="2286000" lvl="4" indent="-342900">
              <a:spcBef>
                <a:spcPts val="1200"/>
              </a:spcBef>
              <a:spcAft>
                <a:spcPts val="0"/>
              </a:spcAft>
              <a:buSzPts val="1800"/>
              <a:buChar char="•"/>
              <a:defRPr/>
            </a:lvl5pPr>
            <a:lvl6pPr marL="2743200" lvl="5" indent="-342900">
              <a:spcBef>
                <a:spcPts val="1200"/>
              </a:spcBef>
              <a:spcAft>
                <a:spcPts val="0"/>
              </a:spcAft>
              <a:buSzPts val="1800"/>
              <a:buChar char="•"/>
              <a:defRPr/>
            </a:lvl6pPr>
            <a:lvl7pPr marL="3200400" lvl="6" indent="-342900">
              <a:spcBef>
                <a:spcPts val="500"/>
              </a:spcBef>
              <a:spcAft>
                <a:spcPts val="0"/>
              </a:spcAft>
              <a:buSzPts val="1800"/>
              <a:buChar char="•"/>
              <a:defRPr/>
            </a:lvl7pPr>
            <a:lvl8pPr marL="3657600" lvl="7" indent="-342900">
              <a:spcBef>
                <a:spcPts val="500"/>
              </a:spcBef>
              <a:spcAft>
                <a:spcPts val="0"/>
              </a:spcAft>
              <a:buSzPts val="1800"/>
              <a:buChar char="•"/>
              <a:defRPr/>
            </a:lvl8pPr>
            <a:lvl9pPr marL="4114800" lvl="8" indent="-342900">
              <a:spcBef>
                <a:spcPts val="500"/>
              </a:spcBef>
              <a:spcAft>
                <a:spcPts val="0"/>
              </a:spcAft>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2">
  <p:cSld name="Section 2">
    <p:spTree>
      <p:nvGrpSpPr>
        <p:cNvPr id="1" name="Shape 39"/>
        <p:cNvGrpSpPr/>
        <p:nvPr/>
      </p:nvGrpSpPr>
      <p:grpSpPr>
        <a:xfrm>
          <a:off x="0" y="0"/>
          <a:ext cx="0" cy="0"/>
          <a:chOff x="0" y="0"/>
          <a:chExt cx="0" cy="0"/>
        </a:xfrm>
      </p:grpSpPr>
      <p:sp>
        <p:nvSpPr>
          <p:cNvPr id="40" name="Google Shape;40;p6"/>
          <p:cNvSpPr>
            <a:spLocks noGrp="1"/>
          </p:cNvSpPr>
          <p:nvPr>
            <p:ph type="pic" idx="2"/>
          </p:nvPr>
        </p:nvSpPr>
        <p:spPr>
          <a:xfrm>
            <a:off x="0" y="-2901"/>
            <a:ext cx="11546006" cy="3398293"/>
          </a:xfrm>
          <a:prstGeom prst="rect">
            <a:avLst/>
          </a:prstGeom>
          <a:solidFill>
            <a:srgbClr val="D8D8D8"/>
          </a:solid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1pPr>
            <a:lvl2pPr marR="0" lvl="1" algn="l" rtl="0">
              <a:lnSpc>
                <a:spcPct val="90000"/>
              </a:lnSpc>
              <a:spcBef>
                <a:spcPts val="120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2pPr>
            <a:lvl3pPr marR="0" lvl="2" algn="l" rtl="0">
              <a:lnSpc>
                <a:spcPct val="90000"/>
              </a:lnSpc>
              <a:spcBef>
                <a:spcPts val="12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R="0" lvl="3" algn="l" rtl="0">
              <a:lnSpc>
                <a:spcPct val="90000"/>
              </a:lnSpc>
              <a:spcBef>
                <a:spcPts val="12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R="0" lvl="4" algn="l" rtl="0">
              <a:lnSpc>
                <a:spcPct val="90000"/>
              </a:lnSpc>
              <a:spcBef>
                <a:spcPts val="12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R="0" lvl="5" algn="l" rtl="0">
              <a:lnSpc>
                <a:spcPct val="90000"/>
              </a:lnSpc>
              <a:spcBef>
                <a:spcPts val="12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title"/>
          </p:nvPr>
        </p:nvSpPr>
        <p:spPr>
          <a:xfrm>
            <a:off x="838200" y="3598400"/>
            <a:ext cx="7602600" cy="19923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losing">
  <p:cSld name="Closing">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2688608" y="2762250"/>
            <a:ext cx="5855317" cy="218322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124163"/>
            </a:gs>
            <a:gs pos="50000">
              <a:srgbClr val="1482AB"/>
            </a:gs>
            <a:gs pos="100000">
              <a:srgbClr val="124163"/>
            </a:gs>
          </a:gsLst>
          <a:path path="circle">
            <a:fillToRect l="100000" b="100000"/>
          </a:path>
          <a:tileRect t="-100000" r="-100000"/>
        </a:gra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lt1"/>
              </a:buClr>
              <a:buSzPts val="4400"/>
              <a:buFont typeface="Calibri"/>
              <a:buNone/>
              <a:defRPr sz="4400" b="1"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120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90000"/>
              </a:lnSpc>
              <a:spcBef>
                <a:spcPts val="12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90000"/>
              </a:lnSpc>
              <a:spcBef>
                <a:spcPts val="12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90000"/>
              </a:lnSpc>
              <a:spcBef>
                <a:spcPts val="12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90000"/>
              </a:lnSpc>
              <a:spcBef>
                <a:spcPts val="12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D8D8D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D8D8D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D8D8D8"/>
                </a:solidFill>
                <a:latin typeface="Calibri"/>
                <a:ea typeface="Calibri"/>
                <a:cs typeface="Calibri"/>
                <a:sym typeface="Calibri"/>
              </a:defRPr>
            </a:lvl1pPr>
            <a:lvl2pPr marL="0" marR="0" lvl="1" indent="0" algn="r" rtl="0">
              <a:spcBef>
                <a:spcPts val="0"/>
              </a:spcBef>
              <a:buNone/>
              <a:defRPr sz="1200" b="0" i="0" u="none" strike="noStrike" cap="none">
                <a:solidFill>
                  <a:srgbClr val="D8D8D8"/>
                </a:solidFill>
                <a:latin typeface="Calibri"/>
                <a:ea typeface="Calibri"/>
                <a:cs typeface="Calibri"/>
                <a:sym typeface="Calibri"/>
              </a:defRPr>
            </a:lvl2pPr>
            <a:lvl3pPr marL="0" marR="0" lvl="2" indent="0" algn="r" rtl="0">
              <a:spcBef>
                <a:spcPts val="0"/>
              </a:spcBef>
              <a:buNone/>
              <a:defRPr sz="1200" b="0" i="0" u="none" strike="noStrike" cap="none">
                <a:solidFill>
                  <a:srgbClr val="D8D8D8"/>
                </a:solidFill>
                <a:latin typeface="Calibri"/>
                <a:ea typeface="Calibri"/>
                <a:cs typeface="Calibri"/>
                <a:sym typeface="Calibri"/>
              </a:defRPr>
            </a:lvl3pPr>
            <a:lvl4pPr marL="0" marR="0" lvl="3" indent="0" algn="r" rtl="0">
              <a:spcBef>
                <a:spcPts val="0"/>
              </a:spcBef>
              <a:buNone/>
              <a:defRPr sz="1200" b="0" i="0" u="none" strike="noStrike" cap="none">
                <a:solidFill>
                  <a:srgbClr val="D8D8D8"/>
                </a:solidFill>
                <a:latin typeface="Calibri"/>
                <a:ea typeface="Calibri"/>
                <a:cs typeface="Calibri"/>
                <a:sym typeface="Calibri"/>
              </a:defRPr>
            </a:lvl4pPr>
            <a:lvl5pPr marL="0" marR="0" lvl="4" indent="0" algn="r" rtl="0">
              <a:spcBef>
                <a:spcPts val="0"/>
              </a:spcBef>
              <a:buNone/>
              <a:defRPr sz="1200" b="0" i="0" u="none" strike="noStrike" cap="none">
                <a:solidFill>
                  <a:srgbClr val="D8D8D8"/>
                </a:solidFill>
                <a:latin typeface="Calibri"/>
                <a:ea typeface="Calibri"/>
                <a:cs typeface="Calibri"/>
                <a:sym typeface="Calibri"/>
              </a:defRPr>
            </a:lvl5pPr>
            <a:lvl6pPr marL="0" marR="0" lvl="5" indent="0" algn="r" rtl="0">
              <a:spcBef>
                <a:spcPts val="0"/>
              </a:spcBef>
              <a:buNone/>
              <a:defRPr sz="1200" b="0" i="0" u="none" strike="noStrike" cap="none">
                <a:solidFill>
                  <a:srgbClr val="D8D8D8"/>
                </a:solidFill>
                <a:latin typeface="Calibri"/>
                <a:ea typeface="Calibri"/>
                <a:cs typeface="Calibri"/>
                <a:sym typeface="Calibri"/>
              </a:defRPr>
            </a:lvl6pPr>
            <a:lvl7pPr marL="0" marR="0" lvl="6" indent="0" algn="r" rtl="0">
              <a:spcBef>
                <a:spcPts val="0"/>
              </a:spcBef>
              <a:buNone/>
              <a:defRPr sz="1200" b="0" i="0" u="none" strike="noStrike" cap="none">
                <a:solidFill>
                  <a:srgbClr val="D8D8D8"/>
                </a:solidFill>
                <a:latin typeface="Calibri"/>
                <a:ea typeface="Calibri"/>
                <a:cs typeface="Calibri"/>
                <a:sym typeface="Calibri"/>
              </a:defRPr>
            </a:lvl7pPr>
            <a:lvl8pPr marL="0" marR="0" lvl="7" indent="0" algn="r" rtl="0">
              <a:spcBef>
                <a:spcPts val="0"/>
              </a:spcBef>
              <a:buNone/>
              <a:defRPr sz="1200" b="0" i="0" u="none" strike="noStrike" cap="none">
                <a:solidFill>
                  <a:srgbClr val="D8D8D8"/>
                </a:solidFill>
                <a:latin typeface="Calibri"/>
                <a:ea typeface="Calibri"/>
                <a:cs typeface="Calibri"/>
                <a:sym typeface="Calibri"/>
              </a:defRPr>
            </a:lvl8pPr>
            <a:lvl9pPr marL="0" marR="0" lvl="8" indent="0" algn="r" rtl="0">
              <a:spcBef>
                <a:spcPts val="0"/>
              </a:spcBef>
              <a:buNone/>
              <a:defRPr sz="1200" b="0" i="0" u="none" strike="noStrike" cap="none">
                <a:solidFill>
                  <a:srgbClr val="D8D8D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5"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rive.google.com/file/d/1Rbwfnp7iHOigTDGeBC5KReGQnfMIXDRg/view?usp=sharing"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0"/>
          <p:cNvSpPr txBox="1">
            <a:spLocks noGrp="1"/>
          </p:cNvSpPr>
          <p:nvPr>
            <p:ph type="ctrTitle"/>
          </p:nvPr>
        </p:nvSpPr>
        <p:spPr>
          <a:xfrm>
            <a:off x="1786467" y="2354323"/>
            <a:ext cx="9144000" cy="729827"/>
          </a:xfrm>
          <a:prstGeom prst="rect">
            <a:avLst/>
          </a:prstGeom>
          <a:noFill/>
          <a:ln>
            <a:noFill/>
          </a:ln>
        </p:spPr>
        <p:txBody>
          <a:bodyPr spcFirstLastPara="1" wrap="square" lIns="91425" tIns="45700" rIns="91425" bIns="45700" anchor="b" anchorCtr="0">
            <a:noAutofit/>
          </a:bodyPr>
          <a:lstStyle/>
          <a:p>
            <a:pPr lvl="0"/>
            <a:r>
              <a:rPr lang="en-IN" sz="4000" dirty="0" err="1"/>
              <a:t>NewsAgg</a:t>
            </a:r>
            <a:r>
              <a:rPr lang="en-IN" sz="4000" dirty="0"/>
              <a:t> - A Full-Stack News Aggregator</a:t>
            </a:r>
            <a:endParaRPr sz="4000" dirty="0"/>
          </a:p>
        </p:txBody>
      </p:sp>
      <p:sp>
        <p:nvSpPr>
          <p:cNvPr id="116" name="Google Shape;116;p10"/>
          <p:cNvSpPr/>
          <p:nvPr/>
        </p:nvSpPr>
        <p:spPr>
          <a:xfrm>
            <a:off x="0" y="0"/>
            <a:ext cx="12192012" cy="6858000"/>
          </a:xfrm>
          <a:custGeom>
            <a:avLst/>
            <a:gdLst/>
            <a:ahLst/>
            <a:cxnLst/>
            <a:rect l="l" t="t" r="r" b="b"/>
            <a:pathLst>
              <a:path w="21600" h="21600" extrusionOk="0">
                <a:moveTo>
                  <a:pt x="21600" y="12537"/>
                </a:moveTo>
                <a:lnTo>
                  <a:pt x="20240" y="12808"/>
                </a:lnTo>
                <a:cubicBezTo>
                  <a:pt x="19936" y="12868"/>
                  <a:pt x="19696" y="12354"/>
                  <a:pt x="19785" y="11833"/>
                </a:cubicBezTo>
                <a:lnTo>
                  <a:pt x="20393" y="8287"/>
                </a:lnTo>
                <a:cubicBezTo>
                  <a:pt x="20451" y="7940"/>
                  <a:pt x="20641" y="7717"/>
                  <a:pt x="20843" y="7753"/>
                </a:cubicBezTo>
                <a:lnTo>
                  <a:pt x="21472" y="7865"/>
                </a:lnTo>
                <a:cubicBezTo>
                  <a:pt x="21517" y="7873"/>
                  <a:pt x="21560" y="7869"/>
                  <a:pt x="21600" y="7853"/>
                </a:cubicBezTo>
                <a:lnTo>
                  <a:pt x="21600" y="6189"/>
                </a:lnTo>
                <a:cubicBezTo>
                  <a:pt x="21589" y="6185"/>
                  <a:pt x="21580" y="6181"/>
                  <a:pt x="21569" y="6181"/>
                </a:cubicBezTo>
                <a:lnTo>
                  <a:pt x="21293" y="6133"/>
                </a:lnTo>
                <a:cubicBezTo>
                  <a:pt x="21027" y="6086"/>
                  <a:pt x="20850" y="5616"/>
                  <a:pt x="20928" y="5158"/>
                </a:cubicBezTo>
                <a:lnTo>
                  <a:pt x="21600" y="1230"/>
                </a:lnTo>
                <a:lnTo>
                  <a:pt x="21600" y="0"/>
                </a:lnTo>
                <a:lnTo>
                  <a:pt x="20816" y="0"/>
                </a:lnTo>
                <a:lnTo>
                  <a:pt x="19913" y="5270"/>
                </a:lnTo>
                <a:cubicBezTo>
                  <a:pt x="19855" y="5616"/>
                  <a:pt x="19664" y="5839"/>
                  <a:pt x="19463" y="5803"/>
                </a:cubicBezTo>
                <a:lnTo>
                  <a:pt x="15619" y="5114"/>
                </a:lnTo>
                <a:cubicBezTo>
                  <a:pt x="15444" y="5083"/>
                  <a:pt x="15298" y="4864"/>
                  <a:pt x="15251" y="4565"/>
                </a:cubicBezTo>
                <a:lnTo>
                  <a:pt x="14534" y="0"/>
                </a:lnTo>
                <a:lnTo>
                  <a:pt x="13546" y="0"/>
                </a:lnTo>
                <a:lnTo>
                  <a:pt x="14145" y="3809"/>
                </a:lnTo>
                <a:cubicBezTo>
                  <a:pt x="14225" y="4322"/>
                  <a:pt x="13990" y="4820"/>
                  <a:pt x="13692" y="4768"/>
                </a:cubicBezTo>
                <a:lnTo>
                  <a:pt x="6591" y="3495"/>
                </a:lnTo>
                <a:cubicBezTo>
                  <a:pt x="6237" y="3431"/>
                  <a:pt x="6080" y="2671"/>
                  <a:pt x="6326" y="2217"/>
                </a:cubicBezTo>
                <a:lnTo>
                  <a:pt x="7523" y="0"/>
                </a:lnTo>
                <a:lnTo>
                  <a:pt x="6199" y="0"/>
                </a:lnTo>
                <a:lnTo>
                  <a:pt x="4657" y="2854"/>
                </a:lnTo>
                <a:cubicBezTo>
                  <a:pt x="4566" y="3021"/>
                  <a:pt x="4438" y="3108"/>
                  <a:pt x="4306" y="3085"/>
                </a:cubicBezTo>
                <a:lnTo>
                  <a:pt x="2198" y="2706"/>
                </a:lnTo>
                <a:cubicBezTo>
                  <a:pt x="2023" y="2675"/>
                  <a:pt x="1877" y="2456"/>
                  <a:pt x="1830" y="2157"/>
                </a:cubicBezTo>
                <a:lnTo>
                  <a:pt x="1492" y="0"/>
                </a:lnTo>
                <a:lnTo>
                  <a:pt x="504" y="0"/>
                </a:lnTo>
                <a:lnTo>
                  <a:pt x="724" y="1401"/>
                </a:lnTo>
                <a:cubicBezTo>
                  <a:pt x="804" y="1914"/>
                  <a:pt x="569" y="2412"/>
                  <a:pt x="271" y="2360"/>
                </a:cubicBezTo>
                <a:lnTo>
                  <a:pt x="0" y="2312"/>
                </a:lnTo>
                <a:lnTo>
                  <a:pt x="0" y="4012"/>
                </a:lnTo>
                <a:lnTo>
                  <a:pt x="880" y="4171"/>
                </a:lnTo>
                <a:cubicBezTo>
                  <a:pt x="1055" y="4203"/>
                  <a:pt x="1201" y="4422"/>
                  <a:pt x="1248" y="4720"/>
                </a:cubicBezTo>
                <a:lnTo>
                  <a:pt x="1725" y="7753"/>
                </a:lnTo>
                <a:cubicBezTo>
                  <a:pt x="1765" y="8012"/>
                  <a:pt x="1727" y="8287"/>
                  <a:pt x="1622" y="8482"/>
                </a:cubicBezTo>
                <a:lnTo>
                  <a:pt x="0" y="11487"/>
                </a:lnTo>
                <a:lnTo>
                  <a:pt x="0" y="13930"/>
                </a:lnTo>
                <a:lnTo>
                  <a:pt x="1570" y="11021"/>
                </a:lnTo>
                <a:cubicBezTo>
                  <a:pt x="1799" y="10599"/>
                  <a:pt x="2200" y="10778"/>
                  <a:pt x="2289" y="11343"/>
                </a:cubicBezTo>
                <a:lnTo>
                  <a:pt x="2919" y="15347"/>
                </a:lnTo>
                <a:cubicBezTo>
                  <a:pt x="2991" y="15797"/>
                  <a:pt x="2816" y="16251"/>
                  <a:pt x="2556" y="16302"/>
                </a:cubicBezTo>
                <a:lnTo>
                  <a:pt x="0" y="16808"/>
                </a:lnTo>
                <a:lnTo>
                  <a:pt x="0" y="18511"/>
                </a:lnTo>
                <a:lnTo>
                  <a:pt x="2953" y="17926"/>
                </a:lnTo>
                <a:cubicBezTo>
                  <a:pt x="3161" y="17887"/>
                  <a:pt x="3354" y="18117"/>
                  <a:pt x="3410" y="18476"/>
                </a:cubicBezTo>
                <a:lnTo>
                  <a:pt x="3900" y="21592"/>
                </a:lnTo>
                <a:lnTo>
                  <a:pt x="4888" y="21592"/>
                </a:lnTo>
                <a:lnTo>
                  <a:pt x="4406" y="18523"/>
                </a:lnTo>
                <a:cubicBezTo>
                  <a:pt x="4335" y="18074"/>
                  <a:pt x="4510" y="17620"/>
                  <a:pt x="4769" y="17568"/>
                </a:cubicBezTo>
                <a:lnTo>
                  <a:pt x="7265" y="17075"/>
                </a:lnTo>
                <a:cubicBezTo>
                  <a:pt x="7538" y="17019"/>
                  <a:pt x="7769" y="17437"/>
                  <a:pt x="7735" y="17922"/>
                </a:cubicBezTo>
                <a:lnTo>
                  <a:pt x="7491" y="21357"/>
                </a:lnTo>
                <a:cubicBezTo>
                  <a:pt x="7485" y="21441"/>
                  <a:pt x="7487" y="21520"/>
                  <a:pt x="7496" y="21596"/>
                </a:cubicBezTo>
                <a:lnTo>
                  <a:pt x="8434" y="21596"/>
                </a:lnTo>
                <a:cubicBezTo>
                  <a:pt x="8434" y="21588"/>
                  <a:pt x="8437" y="21580"/>
                  <a:pt x="8437" y="21568"/>
                </a:cubicBezTo>
                <a:lnTo>
                  <a:pt x="8737" y="17365"/>
                </a:lnTo>
                <a:cubicBezTo>
                  <a:pt x="8761" y="17019"/>
                  <a:pt x="8916" y="16748"/>
                  <a:pt x="9113" y="16708"/>
                </a:cubicBezTo>
                <a:lnTo>
                  <a:pt x="17624" y="15025"/>
                </a:lnTo>
                <a:cubicBezTo>
                  <a:pt x="17928" y="14965"/>
                  <a:pt x="18168" y="15479"/>
                  <a:pt x="18078" y="16000"/>
                </a:cubicBezTo>
                <a:lnTo>
                  <a:pt x="17133" y="21520"/>
                </a:lnTo>
                <a:cubicBezTo>
                  <a:pt x="17129" y="21548"/>
                  <a:pt x="17124" y="21572"/>
                  <a:pt x="17122" y="21600"/>
                </a:cubicBezTo>
                <a:lnTo>
                  <a:pt x="18114" y="21600"/>
                </a:lnTo>
                <a:lnTo>
                  <a:pt x="19214" y="15176"/>
                </a:lnTo>
                <a:cubicBezTo>
                  <a:pt x="19263" y="14886"/>
                  <a:pt x="19405" y="14679"/>
                  <a:pt x="19575" y="14643"/>
                </a:cubicBezTo>
                <a:lnTo>
                  <a:pt x="21600" y="14241"/>
                </a:lnTo>
                <a:lnTo>
                  <a:pt x="21600" y="12537"/>
                </a:lnTo>
                <a:close/>
                <a:moveTo>
                  <a:pt x="2354" y="5473"/>
                </a:moveTo>
                <a:lnTo>
                  <a:pt x="2354" y="5473"/>
                </a:lnTo>
                <a:cubicBezTo>
                  <a:pt x="2274" y="4959"/>
                  <a:pt x="2509" y="4462"/>
                  <a:pt x="2807" y="4513"/>
                </a:cubicBezTo>
                <a:lnTo>
                  <a:pt x="2807" y="4513"/>
                </a:lnTo>
                <a:cubicBezTo>
                  <a:pt x="3161" y="4577"/>
                  <a:pt x="3318" y="5337"/>
                  <a:pt x="3071" y="5791"/>
                </a:cubicBezTo>
                <a:lnTo>
                  <a:pt x="3071" y="5791"/>
                </a:lnTo>
                <a:cubicBezTo>
                  <a:pt x="2843" y="6217"/>
                  <a:pt x="2442" y="6038"/>
                  <a:pt x="2354" y="5473"/>
                </a:cubicBezTo>
                <a:close/>
                <a:moveTo>
                  <a:pt x="19378" y="8398"/>
                </a:moveTo>
                <a:lnTo>
                  <a:pt x="18650" y="12657"/>
                </a:lnTo>
                <a:cubicBezTo>
                  <a:pt x="18600" y="12947"/>
                  <a:pt x="18459" y="13154"/>
                  <a:pt x="18289" y="13190"/>
                </a:cubicBezTo>
                <a:lnTo>
                  <a:pt x="4373" y="15944"/>
                </a:lnTo>
                <a:cubicBezTo>
                  <a:pt x="4165" y="15984"/>
                  <a:pt x="3972" y="15753"/>
                  <a:pt x="3916" y="15395"/>
                </a:cubicBezTo>
                <a:lnTo>
                  <a:pt x="2919" y="9059"/>
                </a:lnTo>
                <a:cubicBezTo>
                  <a:pt x="2879" y="8800"/>
                  <a:pt x="2917" y="8525"/>
                  <a:pt x="3022" y="8330"/>
                </a:cubicBezTo>
                <a:lnTo>
                  <a:pt x="4738" y="5150"/>
                </a:lnTo>
                <a:cubicBezTo>
                  <a:pt x="4830" y="4983"/>
                  <a:pt x="4958" y="4896"/>
                  <a:pt x="5090" y="4919"/>
                </a:cubicBezTo>
                <a:lnTo>
                  <a:pt x="19017" y="7419"/>
                </a:lnTo>
                <a:cubicBezTo>
                  <a:pt x="19281" y="7475"/>
                  <a:pt x="19456" y="7944"/>
                  <a:pt x="19378" y="8398"/>
                </a:cubicBezTo>
                <a:close/>
              </a:path>
            </a:pathLst>
          </a:custGeom>
          <a:gradFill>
            <a:gsLst>
              <a:gs pos="0">
                <a:srgbClr val="76CEEF"/>
              </a:gs>
              <a:gs pos="100000">
                <a:srgbClr val="1C6294"/>
              </a:gs>
            </a:gsLst>
            <a:path path="circle">
              <a:fillToRect l="100000" b="100000"/>
            </a:path>
            <a:tileRect t="-100000" r="-100000"/>
          </a:gradFill>
          <a:ln>
            <a:noFill/>
          </a:ln>
          <a:effectLst>
            <a:outerShdw blurRad="317500" dist="190500" dir="5400000" algn="t" rotWithShape="0">
              <a:srgbClr val="124163">
                <a:alpha val="20000"/>
              </a:srgbClr>
            </a:outerShdw>
          </a:effectLst>
        </p:spPr>
        <p:txBody>
          <a:bodyPr spcFirstLastPara="1" wrap="square" lIns="38100" tIns="38100" rIns="38100" bIns="381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7" name="Google Shape;117;p10"/>
          <p:cNvSpPr txBox="1">
            <a:spLocks noGrp="1"/>
          </p:cNvSpPr>
          <p:nvPr>
            <p:ph type="body" idx="4294967295"/>
          </p:nvPr>
        </p:nvSpPr>
        <p:spPr>
          <a:xfrm>
            <a:off x="2301750" y="3773851"/>
            <a:ext cx="7588500" cy="2062607"/>
          </a:xfrm>
          <a:prstGeom prst="rect">
            <a:avLst/>
          </a:prstGeom>
          <a:noFill/>
          <a:ln>
            <a:noFill/>
          </a:ln>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1200"/>
              <a:buNone/>
            </a:pPr>
            <a:r>
              <a:rPr lang="en-US" sz="2400" dirty="0"/>
              <a:t>Group 24</a:t>
            </a:r>
          </a:p>
          <a:p>
            <a:pPr marL="0" lvl="0" indent="0" algn="ctr" rtl="0">
              <a:lnSpc>
                <a:spcPct val="90000"/>
              </a:lnSpc>
              <a:spcBef>
                <a:spcPts val="0"/>
              </a:spcBef>
              <a:spcAft>
                <a:spcPts val="0"/>
              </a:spcAft>
              <a:buClr>
                <a:schemeClr val="lt1"/>
              </a:buClr>
              <a:buSzPts val="1200"/>
              <a:buNone/>
            </a:pPr>
            <a:r>
              <a:rPr lang="en-US" sz="2400" dirty="0"/>
              <a:t>Shreya Sundli (24BCE2546)</a:t>
            </a:r>
          </a:p>
          <a:p>
            <a:pPr marL="0" lvl="0" indent="0" algn="ctr" rtl="0">
              <a:lnSpc>
                <a:spcPct val="90000"/>
              </a:lnSpc>
              <a:spcBef>
                <a:spcPts val="0"/>
              </a:spcBef>
              <a:spcAft>
                <a:spcPts val="0"/>
              </a:spcAft>
              <a:buClr>
                <a:schemeClr val="lt1"/>
              </a:buClr>
              <a:buSzPts val="1200"/>
              <a:buNone/>
            </a:pPr>
            <a:r>
              <a:rPr lang="en-US" sz="2400" dirty="0"/>
              <a:t>Siddharth Verma (23BCT0159)</a:t>
            </a:r>
          </a:p>
          <a:p>
            <a:pPr marL="0" lvl="0" indent="0" algn="ctr" rtl="0">
              <a:lnSpc>
                <a:spcPct val="90000"/>
              </a:lnSpc>
              <a:spcBef>
                <a:spcPts val="0"/>
              </a:spcBef>
              <a:spcAft>
                <a:spcPts val="0"/>
              </a:spcAft>
              <a:buClr>
                <a:schemeClr val="lt1"/>
              </a:buClr>
              <a:buSzPts val="1200"/>
              <a:buNone/>
            </a:pPr>
            <a:r>
              <a:rPr lang="en-US" sz="2400" dirty="0" err="1"/>
              <a:t>Vakati</a:t>
            </a:r>
            <a:r>
              <a:rPr lang="en-US" sz="2400" dirty="0"/>
              <a:t> Narayani Nayani (24BAI1200)</a:t>
            </a:r>
          </a:p>
          <a:p>
            <a:pPr marL="0" lvl="0" indent="0" algn="ctr" rtl="0">
              <a:lnSpc>
                <a:spcPct val="90000"/>
              </a:lnSpc>
              <a:spcBef>
                <a:spcPts val="0"/>
              </a:spcBef>
              <a:spcAft>
                <a:spcPts val="0"/>
              </a:spcAft>
              <a:buClr>
                <a:schemeClr val="lt1"/>
              </a:buClr>
              <a:buSzPts val="1200"/>
              <a:buNone/>
            </a:pPr>
            <a:r>
              <a:rPr lang="en-US" sz="2400" dirty="0"/>
              <a:t>Bhavy Hrishikesh (22BIT0371)</a:t>
            </a:r>
            <a:endParaRPr sz="2400" dirty="0"/>
          </a:p>
        </p:txBody>
      </p:sp>
      <p:sp>
        <p:nvSpPr>
          <p:cNvPr id="118" name="Google Shape;118;p10"/>
          <p:cNvSpPr txBox="1">
            <a:spLocks noGrp="1"/>
          </p:cNvSpPr>
          <p:nvPr>
            <p:ph type="body" idx="4294967295"/>
          </p:nvPr>
        </p:nvSpPr>
        <p:spPr>
          <a:xfrm>
            <a:off x="108975" y="6168300"/>
            <a:ext cx="2083800" cy="555600"/>
          </a:xfrm>
          <a:prstGeom prst="rect">
            <a:avLst/>
          </a:prstGeom>
          <a:noFill/>
          <a:ln>
            <a:noFill/>
          </a:ln>
          <a:effectLst>
            <a:outerShdw blurRad="57150" dist="19050" dir="5400000" algn="bl" rotWithShape="0">
              <a:srgbClr val="000000">
                <a:alpha val="50000"/>
              </a:srgbClr>
            </a:outerShdw>
          </a:effectLst>
        </p:spPr>
        <p:txBody>
          <a:bodyPr spcFirstLastPara="1" wrap="square" lIns="91425" tIns="45700" rIns="91425" bIns="45700" anchor="b" anchorCtr="0">
            <a:noAutofit/>
          </a:bodyPr>
          <a:lstStyle/>
          <a:p>
            <a:pPr marL="0" lvl="0" indent="0" algn="l" rtl="0">
              <a:spcBef>
                <a:spcPts val="0"/>
              </a:spcBef>
              <a:spcAft>
                <a:spcPts val="0"/>
              </a:spcAft>
              <a:buNone/>
            </a:pPr>
            <a:r>
              <a:rPr lang="en-IN" sz="2100" dirty="0"/>
              <a:t>10.07.2026</a:t>
            </a:r>
            <a:endParaRPr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1"/>
          <p:cNvSpPr txBox="1">
            <a:spLocks noGrp="1"/>
          </p:cNvSpPr>
          <p:nvPr>
            <p:ph type="body" idx="1"/>
          </p:nvPr>
        </p:nvSpPr>
        <p:spPr>
          <a:xfrm>
            <a:off x="838200" y="1819274"/>
            <a:ext cx="10515600" cy="2980267"/>
          </a:xfrm>
          <a:prstGeom prst="rect">
            <a:avLst/>
          </a:prstGeom>
          <a:noFill/>
          <a:ln>
            <a:noFill/>
          </a:ln>
        </p:spPr>
        <p:txBody>
          <a:bodyPr spcFirstLastPara="1" wrap="square" lIns="91425" tIns="45700" rIns="91425" bIns="45700" anchor="t" anchorCtr="0">
            <a:noAutofit/>
          </a:bodyPr>
          <a:lstStyle/>
          <a:p>
            <a:pPr marL="114300" lvl="0" indent="0">
              <a:spcBef>
                <a:spcPts val="2200"/>
              </a:spcBef>
              <a:buNone/>
            </a:pPr>
            <a:r>
              <a:rPr lang="en-IN" sz="2400" dirty="0" err="1"/>
              <a:t>NewsAgg</a:t>
            </a:r>
            <a:r>
              <a:rPr lang="en-IN" sz="2400" dirty="0"/>
              <a:t> is a full-stack, personalized news aggregator built on the MERN stack (MongoDB, Express.js, React.js, Node.js). </a:t>
            </a:r>
          </a:p>
          <a:p>
            <a:pPr marL="114300" lvl="0" indent="0">
              <a:spcBef>
                <a:spcPts val="2200"/>
              </a:spcBef>
              <a:buNone/>
            </a:pPr>
            <a:r>
              <a:rPr lang="en-IN" sz="2400" dirty="0"/>
              <a:t>It lets users browse top headlines, search for news, filter articles by category, save bookmarks, and manage a profile with personalized topic preferences. </a:t>
            </a:r>
          </a:p>
          <a:p>
            <a:pPr marL="114300" lvl="0" indent="0">
              <a:spcBef>
                <a:spcPts val="2200"/>
              </a:spcBef>
              <a:buNone/>
            </a:pPr>
            <a:r>
              <a:rPr lang="en-IN" sz="2400" dirty="0"/>
              <a:t>The project </a:t>
            </a:r>
            <a:r>
              <a:rPr lang="en-IN" sz="2400" dirty="0" err="1"/>
              <a:t>fulfills</a:t>
            </a:r>
            <a:r>
              <a:rPr lang="en-IN" sz="2400" dirty="0"/>
              <a:t> a college full-stack certification requirement demonstrating CRUD operations and user authentication in the News domain.</a:t>
            </a:r>
            <a:endParaRPr sz="2400" dirty="0"/>
          </a:p>
        </p:txBody>
      </p:sp>
      <p:sp>
        <p:nvSpPr>
          <p:cNvPr id="125" name="Google Shape;125;p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NEWS AGGREGATOR  </a:t>
            </a:r>
            <a:endParaRPr dirty="0"/>
          </a:p>
        </p:txBody>
      </p:sp>
      <p:sp>
        <p:nvSpPr>
          <p:cNvPr id="126" name="Google Shape;126;p11"/>
          <p:cNvSpPr txBox="1">
            <a:spLocks noGrp="1"/>
          </p:cNvSpPr>
          <p:nvPr>
            <p:ph type="sldNum" idx="12"/>
          </p:nvPr>
        </p:nvSpPr>
        <p:spPr>
          <a:xfrm>
            <a:off x="8610600" y="6356350"/>
            <a:ext cx="208924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127" name="Google Shape;127;p11"/>
          <p:cNvSpPr txBox="1">
            <a:spLocks noGrp="1"/>
          </p:cNvSpPr>
          <p:nvPr>
            <p:ph type="title"/>
          </p:nvPr>
        </p:nvSpPr>
        <p:spPr>
          <a:xfrm>
            <a:off x="457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4400"/>
              <a:buFont typeface="Calibri"/>
              <a:buNone/>
            </a:pPr>
            <a:r>
              <a:rPr lang="en-US" dirty="0"/>
              <a:t>Introduction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2"/>
          <p:cNvSpPr txBox="1">
            <a:spLocks noGrp="1"/>
          </p:cNvSpPr>
          <p:nvPr>
            <p:ph type="body" idx="1"/>
          </p:nvPr>
        </p:nvSpPr>
        <p:spPr>
          <a:xfrm>
            <a:off x="685800" y="1386025"/>
            <a:ext cx="10515600" cy="4351200"/>
          </a:xfrm>
          <a:prstGeom prst="rect">
            <a:avLst/>
          </a:prstGeom>
          <a:noFill/>
          <a:ln>
            <a:noFill/>
          </a:ln>
        </p:spPr>
        <p:txBody>
          <a:bodyPr spcFirstLastPara="1" wrap="square" lIns="91425" tIns="45700" rIns="91425" bIns="45700" anchor="t" anchorCtr="0">
            <a:noAutofit/>
          </a:bodyPr>
          <a:lstStyle/>
          <a:p>
            <a:pPr lvl="1"/>
            <a:r>
              <a:rPr lang="en-IN" dirty="0"/>
              <a:t>Aggregate live news articles from </a:t>
            </a:r>
            <a:r>
              <a:rPr lang="en-IN" dirty="0" err="1"/>
              <a:t>NewsAPI</a:t>
            </a:r>
            <a:r>
              <a:rPr lang="en-IN" dirty="0"/>
              <a:t> with automatic fallback to a local dataset for offline reliability</a:t>
            </a:r>
          </a:p>
          <a:p>
            <a:pPr lvl="1"/>
            <a:r>
              <a:rPr lang="en-IN" dirty="0"/>
              <a:t>Allow users to filter news by category and search by keyword</a:t>
            </a:r>
          </a:p>
          <a:p>
            <a:pPr lvl="1"/>
            <a:r>
              <a:rPr lang="en-IN" dirty="0"/>
              <a:t>Enable users to personalize their feed by selecting preferred categories during registration and profile editing</a:t>
            </a:r>
          </a:p>
          <a:p>
            <a:pPr lvl="1"/>
            <a:r>
              <a:rPr lang="en-IN" dirty="0"/>
              <a:t>Implement secure user authentication using JWT and </a:t>
            </a:r>
            <a:r>
              <a:rPr lang="en-IN" dirty="0" err="1"/>
              <a:t>bcrypt</a:t>
            </a:r>
            <a:r>
              <a:rPr lang="en-IN" dirty="0"/>
              <a:t> password hashing</a:t>
            </a:r>
          </a:p>
          <a:p>
            <a:pPr lvl="1"/>
            <a:r>
              <a:rPr lang="en-IN" dirty="0"/>
              <a:t>Demonstrate complete CRUD operations across users, bookmarks, and news data</a:t>
            </a:r>
          </a:p>
          <a:p>
            <a:pPr lvl="1"/>
            <a:r>
              <a:rPr lang="en-IN" dirty="0"/>
              <a:t>Deploy a production-ready app using MongoDB Atlas, Render, and </a:t>
            </a:r>
            <a:r>
              <a:rPr lang="en-IN" dirty="0" err="1"/>
              <a:t>Vercel</a:t>
            </a:r>
            <a:endParaRPr lang="en-IN" dirty="0"/>
          </a:p>
        </p:txBody>
      </p:sp>
      <p:sp>
        <p:nvSpPr>
          <p:cNvPr id="134" name="Google Shape;134;p1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lvl="0"/>
            <a:r>
              <a:rPr lang="en-US" dirty="0"/>
              <a:t>NEWS AGGREGATOR  </a:t>
            </a:r>
          </a:p>
        </p:txBody>
      </p:sp>
      <p:sp>
        <p:nvSpPr>
          <p:cNvPr id="135" name="Google Shape;135;p12"/>
          <p:cNvSpPr txBox="1">
            <a:spLocks noGrp="1"/>
          </p:cNvSpPr>
          <p:nvPr>
            <p:ph type="sldNum" idx="12"/>
          </p:nvPr>
        </p:nvSpPr>
        <p:spPr>
          <a:xfrm>
            <a:off x="8610600" y="6356350"/>
            <a:ext cx="2089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136" name="Google Shape;136;p12"/>
          <p:cNvSpPr txBox="1">
            <a:spLocks noGrp="1"/>
          </p:cNvSpPr>
          <p:nvPr>
            <p:ph type="title"/>
          </p:nvPr>
        </p:nvSpPr>
        <p:spPr>
          <a:xfrm>
            <a:off x="457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100"/>
              <a:buFont typeface="Arial"/>
              <a:buNone/>
            </a:pPr>
            <a:r>
              <a:rPr lang="en-US"/>
              <a:t>Project Objectives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p>
            <a:pPr marL="457200" lvl="0" indent="0" algn="l" rtl="0">
              <a:lnSpc>
                <a:spcPct val="90000"/>
              </a:lnSpc>
              <a:spcBef>
                <a:spcPts val="2200"/>
              </a:spcBef>
              <a:spcAft>
                <a:spcPts val="0"/>
              </a:spcAft>
              <a:buNone/>
            </a:pPr>
            <a:endParaRPr dirty="0"/>
          </a:p>
          <a:p>
            <a:pPr marL="0" lvl="0" indent="0" algn="l" rtl="0">
              <a:lnSpc>
                <a:spcPct val="90000"/>
              </a:lnSpc>
              <a:spcBef>
                <a:spcPts val="2200"/>
              </a:spcBef>
              <a:spcAft>
                <a:spcPts val="0"/>
              </a:spcAft>
              <a:buNone/>
            </a:pPr>
            <a:endParaRPr dirty="0"/>
          </a:p>
        </p:txBody>
      </p:sp>
      <p:sp>
        <p:nvSpPr>
          <p:cNvPr id="143" name="Google Shape;143;p1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lvl="0"/>
            <a:r>
              <a:rPr lang="en-US" dirty="0"/>
              <a:t>NEWS AGGREGATOR  </a:t>
            </a:r>
          </a:p>
        </p:txBody>
      </p:sp>
      <p:sp>
        <p:nvSpPr>
          <p:cNvPr id="144" name="Google Shape;144;p13"/>
          <p:cNvSpPr txBox="1">
            <a:spLocks noGrp="1"/>
          </p:cNvSpPr>
          <p:nvPr>
            <p:ph type="sldNum" idx="12"/>
          </p:nvPr>
        </p:nvSpPr>
        <p:spPr>
          <a:xfrm>
            <a:off x="8610600" y="6356350"/>
            <a:ext cx="2089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145" name="Google Shape;145;p13"/>
          <p:cNvSpPr txBox="1">
            <a:spLocks noGrp="1"/>
          </p:cNvSpPr>
          <p:nvPr>
            <p:ph type="title"/>
          </p:nvPr>
        </p:nvSpPr>
        <p:spPr>
          <a:xfrm>
            <a:off x="457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100"/>
              <a:buFont typeface="Arial"/>
              <a:buNone/>
            </a:pPr>
            <a:r>
              <a:rPr lang="en-US"/>
              <a:t>Architecture Diagram</a:t>
            </a:r>
            <a:endParaRPr/>
          </a:p>
        </p:txBody>
      </p:sp>
      <p:pic>
        <p:nvPicPr>
          <p:cNvPr id="3" name="Picture 2">
            <a:extLst>
              <a:ext uri="{FF2B5EF4-FFF2-40B4-BE49-F238E27FC236}">
                <a16:creationId xmlns:a16="http://schemas.microsoft.com/office/drawing/2014/main" id="{D2519179-C294-08F0-AEC9-F0608A0C3289}"/>
              </a:ext>
            </a:extLst>
          </p:cNvPr>
          <p:cNvPicPr>
            <a:picLocks noChangeAspect="1"/>
          </p:cNvPicPr>
          <p:nvPr/>
        </p:nvPicPr>
        <p:blipFill>
          <a:blip r:embed="rId3"/>
          <a:stretch>
            <a:fillRect/>
          </a:stretch>
        </p:blipFill>
        <p:spPr>
          <a:xfrm>
            <a:off x="1287145" y="1037983"/>
            <a:ext cx="9685655" cy="514730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4"/>
          <p:cNvSpPr txBox="1">
            <a:spLocks noGrp="1"/>
          </p:cNvSpPr>
          <p:nvPr>
            <p:ph type="body" idx="1"/>
          </p:nvPr>
        </p:nvSpPr>
        <p:spPr>
          <a:xfrm>
            <a:off x="838200" y="1386025"/>
            <a:ext cx="10515600" cy="3710908"/>
          </a:xfrm>
          <a:prstGeom prst="rect">
            <a:avLst/>
          </a:prstGeom>
          <a:noFill/>
          <a:ln>
            <a:noFill/>
          </a:ln>
        </p:spPr>
        <p:txBody>
          <a:bodyPr spcFirstLastPara="1" wrap="square" lIns="91425" tIns="45700" rIns="91425" bIns="45700" anchor="t" anchorCtr="0">
            <a:noAutofit/>
          </a:bodyPr>
          <a:lstStyle/>
          <a:p>
            <a:pPr lvl="0"/>
            <a:r>
              <a:rPr lang="en-IN" sz="2400" dirty="0" err="1"/>
              <a:t>NewsAgg</a:t>
            </a:r>
            <a:r>
              <a:rPr lang="en-IN" sz="2400" dirty="0"/>
              <a:t> covers the full news-browsing lifecycle: aggregating articles from </a:t>
            </a:r>
            <a:r>
              <a:rPr lang="en-IN" sz="2400" dirty="0" err="1"/>
              <a:t>NewsAPI</a:t>
            </a:r>
            <a:r>
              <a:rPr lang="en-IN" sz="2400" dirty="0"/>
              <a:t> (with local JSON fallback), category-based filtering, keyword search, user registration/login, personalized category preferences, bookmarking articles, and profile management. </a:t>
            </a:r>
          </a:p>
          <a:p>
            <a:pPr marL="114300" lvl="0" indent="0">
              <a:buNone/>
            </a:pPr>
            <a:endParaRPr lang="en-IN" sz="2400" dirty="0"/>
          </a:p>
          <a:p>
            <a:pPr lvl="0"/>
            <a:r>
              <a:rPr lang="en-IN" sz="2400" dirty="0"/>
              <a:t>The scope is limited to a single-user personalization model (no social/sharing features) and uses a free-tier </a:t>
            </a:r>
            <a:r>
              <a:rPr lang="en-IN" sz="2400" dirty="0" err="1"/>
              <a:t>NewsAPI</a:t>
            </a:r>
            <a:r>
              <a:rPr lang="en-IN" sz="2400" dirty="0"/>
              <a:t> key with a local dataset fallback, making it fully functional even without live API access - ideal for offline demos and evaluations.</a:t>
            </a:r>
          </a:p>
        </p:txBody>
      </p:sp>
      <p:sp>
        <p:nvSpPr>
          <p:cNvPr id="152" name="Google Shape;152;p1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lvl="0"/>
            <a:r>
              <a:rPr lang="en-US" dirty="0"/>
              <a:t>NEWS AGGREGATOR  </a:t>
            </a:r>
          </a:p>
        </p:txBody>
      </p:sp>
      <p:sp>
        <p:nvSpPr>
          <p:cNvPr id="153" name="Google Shape;153;p14"/>
          <p:cNvSpPr txBox="1">
            <a:spLocks noGrp="1"/>
          </p:cNvSpPr>
          <p:nvPr>
            <p:ph type="sldNum" idx="12"/>
          </p:nvPr>
        </p:nvSpPr>
        <p:spPr>
          <a:xfrm>
            <a:off x="8610600" y="6356350"/>
            <a:ext cx="2089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54" name="Google Shape;154;p14"/>
          <p:cNvSpPr txBox="1">
            <a:spLocks noGrp="1"/>
          </p:cNvSpPr>
          <p:nvPr>
            <p:ph type="title"/>
          </p:nvPr>
        </p:nvSpPr>
        <p:spPr>
          <a:xfrm>
            <a:off x="457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100"/>
              <a:buFont typeface="Arial"/>
              <a:buNone/>
            </a:pPr>
            <a:r>
              <a:rPr lang="en-US" dirty="0"/>
              <a:t>Project Scope</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5"/>
          <p:cNvSpPr txBox="1">
            <a:spLocks noGrp="1"/>
          </p:cNvSpPr>
          <p:nvPr>
            <p:ph type="body" idx="1"/>
          </p:nvPr>
        </p:nvSpPr>
        <p:spPr>
          <a:xfrm>
            <a:off x="838200" y="1280161"/>
            <a:ext cx="10515600" cy="4896664"/>
          </a:xfrm>
          <a:prstGeom prst="rect">
            <a:avLst/>
          </a:prstGeom>
          <a:noFill/>
          <a:ln>
            <a:noFill/>
          </a:ln>
        </p:spPr>
        <p:txBody>
          <a:bodyPr spcFirstLastPara="1" wrap="square" lIns="91425" tIns="45700" rIns="91425" bIns="45700" anchor="t" anchorCtr="0">
            <a:noAutofit/>
          </a:bodyPr>
          <a:lstStyle/>
          <a:p>
            <a:pPr lvl="0"/>
            <a:r>
              <a:rPr lang="en-IN" sz="2400" dirty="0"/>
              <a:t>Nayani : Backend Development - Built Express REST API, Mongoose schemas (User, Bookmark), JWT authentication middleware, and news controller with </a:t>
            </a:r>
            <a:r>
              <a:rPr lang="en-IN" sz="2400" dirty="0" err="1"/>
              <a:t>NewsAPI</a:t>
            </a:r>
            <a:r>
              <a:rPr lang="en-IN" sz="2400" dirty="0"/>
              <a:t> integration + fallback logic</a:t>
            </a:r>
          </a:p>
          <a:p>
            <a:pPr lvl="0"/>
            <a:r>
              <a:rPr lang="en-IN" sz="2400" dirty="0"/>
              <a:t>Shreya : Frontend Development - Built React UI with Vite, pages (Home, Login, Register, Profile, Bookmarks, </a:t>
            </a:r>
            <a:r>
              <a:rPr lang="en-IN" sz="2400" dirty="0" err="1"/>
              <a:t>CategoryFeed</a:t>
            </a:r>
            <a:r>
              <a:rPr lang="en-IN" sz="2400" dirty="0"/>
              <a:t>, </a:t>
            </a:r>
            <a:r>
              <a:rPr lang="en-IN" sz="2400" dirty="0" err="1"/>
              <a:t>SearchFeed</a:t>
            </a:r>
            <a:r>
              <a:rPr lang="en-IN" sz="2400" dirty="0"/>
              <a:t>), React Router setup, and Tailwind CSS styling</a:t>
            </a:r>
          </a:p>
          <a:p>
            <a:pPr lvl="0"/>
            <a:r>
              <a:rPr lang="en-IN" sz="2400" dirty="0"/>
              <a:t>Bhavy : Authentication &amp; Security - Implemented </a:t>
            </a:r>
            <a:r>
              <a:rPr lang="en-IN" sz="2400" dirty="0" err="1"/>
              <a:t>bcrypt</a:t>
            </a:r>
            <a:r>
              <a:rPr lang="en-IN" sz="2400" dirty="0"/>
              <a:t> password hashing, JWT token generation/verification, protected routes (frontend &amp; backend), and input validation with express-validator</a:t>
            </a:r>
          </a:p>
          <a:p>
            <a:pPr lvl="0"/>
            <a:r>
              <a:rPr lang="en-IN" sz="2400" dirty="0"/>
              <a:t>Siddharth : Deployment &amp; DevOps - Configured MongoDB Atlas, deployed backend to Render and frontend to </a:t>
            </a:r>
            <a:r>
              <a:rPr lang="en-IN" sz="2400" dirty="0" err="1"/>
              <a:t>Vercel</a:t>
            </a:r>
            <a:r>
              <a:rPr lang="en-IN" sz="2400" dirty="0"/>
              <a:t>, managed environment variables and CORS/Helmet security settings</a:t>
            </a:r>
          </a:p>
        </p:txBody>
      </p:sp>
      <p:sp>
        <p:nvSpPr>
          <p:cNvPr id="161" name="Google Shape;161;p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lvl="0"/>
            <a:r>
              <a:rPr lang="en-US" dirty="0"/>
              <a:t>NEWS AGGREGATOR  </a:t>
            </a:r>
          </a:p>
        </p:txBody>
      </p:sp>
      <p:sp>
        <p:nvSpPr>
          <p:cNvPr id="162" name="Google Shape;162;p15"/>
          <p:cNvSpPr txBox="1">
            <a:spLocks noGrp="1"/>
          </p:cNvSpPr>
          <p:nvPr>
            <p:ph type="sldNum" idx="12"/>
          </p:nvPr>
        </p:nvSpPr>
        <p:spPr>
          <a:xfrm>
            <a:off x="8610600" y="6356350"/>
            <a:ext cx="2089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163" name="Google Shape;163;p15"/>
          <p:cNvSpPr txBox="1">
            <a:spLocks noGrp="1"/>
          </p:cNvSpPr>
          <p:nvPr>
            <p:ph type="title"/>
          </p:nvPr>
        </p:nvSpPr>
        <p:spPr>
          <a:xfrm>
            <a:off x="457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100"/>
              <a:buFont typeface="Arial"/>
              <a:buNone/>
            </a:pPr>
            <a:r>
              <a:rPr lang="en-US"/>
              <a:t>Individual Contributions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6"/>
          <p:cNvSpPr txBox="1">
            <a:spLocks noGrp="1"/>
          </p:cNvSpPr>
          <p:nvPr>
            <p:ph type="body" idx="1"/>
          </p:nvPr>
        </p:nvSpPr>
        <p:spPr>
          <a:xfrm>
            <a:off x="838200" y="1462193"/>
            <a:ext cx="10515600" cy="3933613"/>
          </a:xfrm>
          <a:prstGeom prst="rect">
            <a:avLst/>
          </a:prstGeom>
          <a:noFill/>
          <a:ln>
            <a:noFill/>
          </a:ln>
        </p:spPr>
        <p:txBody>
          <a:bodyPr spcFirstLastPara="1" wrap="square" lIns="91425" tIns="45700" rIns="91425" bIns="45700" anchor="t" anchorCtr="0">
            <a:noAutofit/>
          </a:bodyPr>
          <a:lstStyle/>
          <a:p>
            <a:pPr lvl="0"/>
            <a:r>
              <a:rPr lang="en-IN" sz="2400" dirty="0"/>
              <a:t>Services: MongoDB Atlas (cloud database), Express.js REST API (11 routes across auth, profile, news, bookmarks), React.js frontend (Vite, 8 routes via React Router), Node.js runtime, NewsAPI.org (external news source), </a:t>
            </a:r>
            <a:r>
              <a:rPr lang="en-IN" sz="2400" dirty="0" err="1"/>
              <a:t>Vercel</a:t>
            </a:r>
            <a:r>
              <a:rPr lang="en-IN" sz="2400" dirty="0"/>
              <a:t> (frontend hosting), Render (backend hosting)</a:t>
            </a:r>
          </a:p>
          <a:p>
            <a:pPr marL="114300" lvl="0" indent="0">
              <a:buNone/>
            </a:pPr>
            <a:endParaRPr lang="en-IN" sz="2400" dirty="0"/>
          </a:p>
          <a:p>
            <a:pPr lvl="0"/>
            <a:r>
              <a:rPr lang="en-IN" sz="2400" dirty="0"/>
              <a:t>Interaction: The React frontend (hosted on </a:t>
            </a:r>
            <a:r>
              <a:rPr lang="en-IN" sz="2400" dirty="0" err="1"/>
              <a:t>Vercel</a:t>
            </a:r>
            <a:r>
              <a:rPr lang="en-IN" sz="2400" dirty="0"/>
              <a:t>) sends HTTPS requests via Axios to the Express backend (hosted on Render). The backend authenticates requests using JWT middleware, queries MongoDB Atlas via Mongoose for users and bookmarks, and fetches live news from NewsAPI.org - falling back to a local JSON dataset if the API key is missing or the request fails.</a:t>
            </a:r>
          </a:p>
        </p:txBody>
      </p:sp>
      <p:sp>
        <p:nvSpPr>
          <p:cNvPr id="170" name="Google Shape;170;p1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lvl="0"/>
            <a:r>
              <a:rPr lang="en-US" dirty="0"/>
              <a:t>NEWS AGGREGATOR  </a:t>
            </a:r>
          </a:p>
        </p:txBody>
      </p:sp>
      <p:sp>
        <p:nvSpPr>
          <p:cNvPr id="171" name="Google Shape;171;p16"/>
          <p:cNvSpPr txBox="1">
            <a:spLocks noGrp="1"/>
          </p:cNvSpPr>
          <p:nvPr>
            <p:ph type="sldNum" idx="12"/>
          </p:nvPr>
        </p:nvSpPr>
        <p:spPr>
          <a:xfrm>
            <a:off x="8610600" y="6356350"/>
            <a:ext cx="2089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172" name="Google Shape;172;p16"/>
          <p:cNvSpPr txBox="1">
            <a:spLocks noGrp="1"/>
          </p:cNvSpPr>
          <p:nvPr>
            <p:ph type="title"/>
          </p:nvPr>
        </p:nvSpPr>
        <p:spPr>
          <a:xfrm>
            <a:off x="457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100"/>
              <a:buFont typeface="Arial"/>
              <a:buNone/>
            </a:pPr>
            <a:r>
              <a:rPr lang="en-US"/>
              <a:t>Project Architecture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7"/>
          <p:cNvSpPr txBox="1">
            <a:spLocks noGrp="1"/>
          </p:cNvSpPr>
          <p:nvPr>
            <p:ph type="body" idx="1"/>
          </p:nvPr>
        </p:nvSpPr>
        <p:spPr>
          <a:xfrm>
            <a:off x="838200" y="1386025"/>
            <a:ext cx="10515600" cy="3615267"/>
          </a:xfrm>
          <a:prstGeom prst="rect">
            <a:avLst/>
          </a:prstGeom>
          <a:noFill/>
          <a:ln>
            <a:noFill/>
          </a:ln>
        </p:spPr>
        <p:txBody>
          <a:bodyPr spcFirstLastPara="1" wrap="square" lIns="91425" tIns="45700" rIns="91425" bIns="45700" anchor="t" anchorCtr="0">
            <a:noAutofit/>
          </a:bodyPr>
          <a:lstStyle/>
          <a:p>
            <a:pPr lvl="0"/>
            <a:r>
              <a:rPr lang="en-IN" sz="2400" dirty="0"/>
              <a:t>Features: Live news aggregation with offline fallback, category filtering, keyword search, personalized category preferences, bookmarking system, JWT-based authentication, protected routes on both frontend and backend, responsive card-based UI</a:t>
            </a:r>
          </a:p>
          <a:p>
            <a:pPr marL="114300" lvl="0" indent="0">
              <a:buNone/>
            </a:pPr>
            <a:endParaRPr lang="en-IN" sz="2400" dirty="0"/>
          </a:p>
          <a:p>
            <a:pPr lvl="0"/>
            <a:r>
              <a:rPr lang="en-IN" sz="2400" dirty="0"/>
              <a:t>Services: </a:t>
            </a:r>
            <a:r>
              <a:rPr lang="en-IN" sz="2400" dirty="0" err="1"/>
              <a:t>NewsAPI</a:t>
            </a:r>
            <a:r>
              <a:rPr lang="en-IN" sz="2400" dirty="0"/>
              <a:t> (real-time news), MongoDB Atlas (data persistence), JWT (stateless authentication), </a:t>
            </a:r>
            <a:r>
              <a:rPr lang="en-IN" sz="2400" dirty="0" err="1"/>
              <a:t>bcryptjs</a:t>
            </a:r>
            <a:r>
              <a:rPr lang="en-IN" sz="2400" dirty="0"/>
              <a:t> (password security), Context API (global auth state management), Axios interceptor (automatic token attachment to requests)</a:t>
            </a:r>
          </a:p>
          <a:p>
            <a:pPr marL="457200" lvl="0" indent="-342900" algn="l" rtl="0">
              <a:lnSpc>
                <a:spcPct val="90000"/>
              </a:lnSpc>
              <a:spcBef>
                <a:spcPts val="2200"/>
              </a:spcBef>
              <a:spcAft>
                <a:spcPts val="0"/>
              </a:spcAft>
              <a:buSzPts val="1800"/>
              <a:buChar char="•"/>
            </a:pPr>
            <a:endParaRPr sz="2000" dirty="0"/>
          </a:p>
        </p:txBody>
      </p:sp>
      <p:sp>
        <p:nvSpPr>
          <p:cNvPr id="179" name="Google Shape;179;p1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lvl="0"/>
            <a:r>
              <a:rPr lang="en-US" dirty="0"/>
              <a:t>NEWS AGGREGATOR  </a:t>
            </a:r>
          </a:p>
        </p:txBody>
      </p:sp>
      <p:sp>
        <p:nvSpPr>
          <p:cNvPr id="180" name="Google Shape;180;p17"/>
          <p:cNvSpPr txBox="1">
            <a:spLocks noGrp="1"/>
          </p:cNvSpPr>
          <p:nvPr>
            <p:ph type="sldNum" idx="12"/>
          </p:nvPr>
        </p:nvSpPr>
        <p:spPr>
          <a:xfrm>
            <a:off x="8610600" y="6356350"/>
            <a:ext cx="2089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181" name="Google Shape;181;p17"/>
          <p:cNvSpPr txBox="1">
            <a:spLocks noGrp="1"/>
          </p:cNvSpPr>
          <p:nvPr>
            <p:ph type="title"/>
          </p:nvPr>
        </p:nvSpPr>
        <p:spPr>
          <a:xfrm>
            <a:off x="457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100"/>
              <a:buFont typeface="Arial"/>
              <a:buNone/>
            </a:pPr>
            <a:r>
              <a:rPr lang="en-US"/>
              <a:t>Key Concepts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8"/>
          <p:cNvSpPr txBox="1">
            <a:spLocks noGrp="1"/>
          </p:cNvSpPr>
          <p:nvPr>
            <p:ph type="body" idx="1"/>
          </p:nvPr>
        </p:nvSpPr>
        <p:spPr>
          <a:xfrm>
            <a:off x="838200" y="1292891"/>
            <a:ext cx="10515600" cy="4486456"/>
          </a:xfrm>
          <a:prstGeom prst="rect">
            <a:avLst/>
          </a:prstGeom>
          <a:noFill/>
          <a:ln>
            <a:noFill/>
          </a:ln>
        </p:spPr>
        <p:txBody>
          <a:bodyPr spcFirstLastPara="1" wrap="square" lIns="91425" tIns="45700" rIns="91425" bIns="45700" anchor="t" anchorCtr="0">
            <a:noAutofit/>
          </a:bodyPr>
          <a:lstStyle/>
          <a:p>
            <a:pPr lvl="0"/>
            <a:r>
              <a:rPr lang="en-IN" sz="2400" dirty="0"/>
              <a:t>Problem 1: Live </a:t>
            </a:r>
            <a:r>
              <a:rPr lang="en-IN" sz="2400" dirty="0" err="1"/>
              <a:t>NewsAPI</a:t>
            </a:r>
            <a:r>
              <a:rPr lang="en-IN" sz="2400" dirty="0"/>
              <a:t> could fail or be rate-limited during demos/evaluation, risking a broken app. Solved by building a two-tier data strategy in newsController.js - if the API key is missing or the request fails, the app automatically falls back to a local JSON dataset (</a:t>
            </a:r>
            <a:r>
              <a:rPr lang="en-IN" sz="2400" dirty="0" err="1"/>
              <a:t>sample_news.json</a:t>
            </a:r>
            <a:r>
              <a:rPr lang="en-IN" sz="2400" dirty="0"/>
              <a:t>), guaranteeing 100% functionality offline.</a:t>
            </a:r>
          </a:p>
          <a:p>
            <a:pPr marL="114300" lvl="0" indent="0">
              <a:buNone/>
            </a:pPr>
            <a:endParaRPr lang="en-IN" sz="2400" dirty="0"/>
          </a:p>
          <a:p>
            <a:pPr lvl="0"/>
            <a:r>
              <a:rPr lang="en-IN" sz="2400" dirty="0"/>
              <a:t>Problem 2: Needed secure, stateless authentication without repeating token-handling logic in every component. Solved by centralizing JWT injection in a single Axios instance (services/api.js) using a request interceptor, combined with a React Context API (</a:t>
            </a:r>
            <a:r>
              <a:rPr lang="en-IN" sz="2400" dirty="0" err="1"/>
              <a:t>AuthContext</a:t>
            </a:r>
            <a:r>
              <a:rPr lang="en-IN" sz="2400" dirty="0"/>
              <a:t>) for global auth state and a </a:t>
            </a:r>
            <a:r>
              <a:rPr lang="en-IN" sz="2400" dirty="0" err="1"/>
              <a:t>ProtectedRoute</a:t>
            </a:r>
            <a:r>
              <a:rPr lang="en-IN" sz="2400" dirty="0"/>
              <a:t> component to guard private pages.</a:t>
            </a:r>
          </a:p>
          <a:p>
            <a:pPr marL="457200" lvl="0" indent="-342900" algn="l" rtl="0">
              <a:lnSpc>
                <a:spcPct val="90000"/>
              </a:lnSpc>
              <a:spcBef>
                <a:spcPts val="2200"/>
              </a:spcBef>
              <a:spcAft>
                <a:spcPts val="0"/>
              </a:spcAft>
              <a:buSzPts val="1800"/>
              <a:buChar char="•"/>
            </a:pPr>
            <a:endParaRPr dirty="0"/>
          </a:p>
        </p:txBody>
      </p:sp>
      <p:sp>
        <p:nvSpPr>
          <p:cNvPr id="188" name="Google Shape;188;p1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lvl="0"/>
            <a:r>
              <a:rPr lang="en-US" dirty="0"/>
              <a:t>NEWS AGGREGATOR  </a:t>
            </a:r>
          </a:p>
        </p:txBody>
      </p:sp>
      <p:sp>
        <p:nvSpPr>
          <p:cNvPr id="189" name="Google Shape;189;p18"/>
          <p:cNvSpPr txBox="1">
            <a:spLocks noGrp="1"/>
          </p:cNvSpPr>
          <p:nvPr>
            <p:ph type="sldNum" idx="12"/>
          </p:nvPr>
        </p:nvSpPr>
        <p:spPr>
          <a:xfrm>
            <a:off x="8610600" y="6356350"/>
            <a:ext cx="2089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190" name="Google Shape;190;p18"/>
          <p:cNvSpPr txBox="1">
            <a:spLocks noGrp="1"/>
          </p:cNvSpPr>
          <p:nvPr>
            <p:ph type="title"/>
          </p:nvPr>
        </p:nvSpPr>
        <p:spPr>
          <a:xfrm>
            <a:off x="457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100"/>
              <a:buFont typeface="Arial"/>
              <a:buNone/>
            </a:pPr>
            <a:r>
              <a:rPr lang="en-US"/>
              <a:t>Challenges and Solutions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9"/>
          <p:cNvSpPr txBox="1">
            <a:spLocks noGrp="1"/>
          </p:cNvSpPr>
          <p:nvPr>
            <p:ph type="body" idx="1"/>
          </p:nvPr>
        </p:nvSpPr>
        <p:spPr>
          <a:xfrm>
            <a:off x="838200" y="1613959"/>
            <a:ext cx="10515600" cy="3135841"/>
          </a:xfrm>
          <a:prstGeom prst="rect">
            <a:avLst/>
          </a:prstGeom>
          <a:noFill/>
          <a:ln>
            <a:noFill/>
          </a:ln>
        </p:spPr>
        <p:txBody>
          <a:bodyPr spcFirstLastPara="1" wrap="square" lIns="91425" tIns="45700" rIns="91425" bIns="45700" anchor="t" anchorCtr="0">
            <a:noAutofit/>
          </a:bodyPr>
          <a:lstStyle/>
          <a:p>
            <a:pPr lvl="0"/>
            <a:r>
              <a:rPr lang="en-IN" sz="2400" dirty="0"/>
              <a:t>Cost Breakdown: MongoDB Atlas - M0 Free Tier (Mumbai region), $0. </a:t>
            </a:r>
            <a:r>
              <a:rPr lang="en-IN" sz="2400" dirty="0" err="1"/>
              <a:t>Vercel</a:t>
            </a:r>
            <a:r>
              <a:rPr lang="en-IN" sz="2400" dirty="0"/>
              <a:t> - Free tier frontend hosting, $0. Render - Free tier backend hosting, $0. </a:t>
            </a:r>
            <a:r>
              <a:rPr lang="en-IN" sz="2400" dirty="0" err="1"/>
              <a:t>NewsAPI</a:t>
            </a:r>
            <a:r>
              <a:rPr lang="en-IN" sz="2400" dirty="0"/>
              <a:t> - Free developer tier, $0.</a:t>
            </a:r>
          </a:p>
          <a:p>
            <a:pPr marL="114300" lvl="0" indent="0">
              <a:buNone/>
            </a:pPr>
            <a:endParaRPr lang="en-IN" sz="2400" dirty="0"/>
          </a:p>
          <a:p>
            <a:pPr lvl="0"/>
            <a:r>
              <a:rPr lang="en-IN" sz="2400" dirty="0"/>
              <a:t>Budgeting: All services were kept within free-tier limits, making the project's running cost $0. The local JSON fallback further reduces dependency on paid/rate-limited API calls, keeping the project sustainable for long-term demos with zero infrastructure cost.</a:t>
            </a:r>
          </a:p>
          <a:p>
            <a:pPr marL="457200" lvl="0" indent="-342900" algn="l" rtl="0">
              <a:lnSpc>
                <a:spcPct val="90000"/>
              </a:lnSpc>
              <a:spcBef>
                <a:spcPts val="2200"/>
              </a:spcBef>
              <a:spcAft>
                <a:spcPts val="0"/>
              </a:spcAft>
              <a:buSzPts val="1800"/>
              <a:buChar char="•"/>
            </a:pPr>
            <a:endParaRPr sz="2400" dirty="0"/>
          </a:p>
        </p:txBody>
      </p:sp>
      <p:sp>
        <p:nvSpPr>
          <p:cNvPr id="197" name="Google Shape;197;p1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lvl="0"/>
            <a:r>
              <a:rPr lang="en-US" dirty="0"/>
              <a:t>NEWS AGGREGATOR  </a:t>
            </a:r>
          </a:p>
        </p:txBody>
      </p:sp>
      <p:sp>
        <p:nvSpPr>
          <p:cNvPr id="198" name="Google Shape;198;p19"/>
          <p:cNvSpPr txBox="1">
            <a:spLocks noGrp="1"/>
          </p:cNvSpPr>
          <p:nvPr>
            <p:ph type="sldNum" idx="12"/>
          </p:nvPr>
        </p:nvSpPr>
        <p:spPr>
          <a:xfrm>
            <a:off x="8610600" y="6356350"/>
            <a:ext cx="2089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199" name="Google Shape;199;p19"/>
          <p:cNvSpPr txBox="1">
            <a:spLocks noGrp="1"/>
          </p:cNvSpPr>
          <p:nvPr>
            <p:ph type="title"/>
          </p:nvPr>
        </p:nvSpPr>
        <p:spPr>
          <a:xfrm>
            <a:off x="457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100"/>
              <a:buFont typeface="Arial"/>
              <a:buNone/>
            </a:pPr>
            <a:r>
              <a:rPr lang="en-US"/>
              <a:t>Cost Analysis (Optional)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0"/>
          <p:cNvSpPr txBox="1">
            <a:spLocks noGrp="1"/>
          </p:cNvSpPr>
          <p:nvPr>
            <p:ph type="body" idx="1"/>
          </p:nvPr>
        </p:nvSpPr>
        <p:spPr>
          <a:xfrm>
            <a:off x="838200" y="1281446"/>
            <a:ext cx="10515600" cy="4295108"/>
          </a:xfrm>
          <a:prstGeom prst="rect">
            <a:avLst/>
          </a:prstGeom>
          <a:noFill/>
          <a:ln>
            <a:noFill/>
          </a:ln>
        </p:spPr>
        <p:txBody>
          <a:bodyPr spcFirstLastPara="1" wrap="square" lIns="91425" tIns="45700" rIns="91425" bIns="45700" anchor="t" anchorCtr="0">
            <a:noAutofit/>
          </a:bodyPr>
          <a:lstStyle/>
          <a:p>
            <a:pPr lvl="0"/>
            <a:r>
              <a:rPr lang="en-IN" sz="2400" dirty="0"/>
              <a:t>Authentication: Passwords are hashed using </a:t>
            </a:r>
            <a:r>
              <a:rPr lang="en-IN" sz="2400" dirty="0" err="1"/>
              <a:t>bcryptjs</a:t>
            </a:r>
            <a:r>
              <a:rPr lang="en-IN" sz="2400" dirty="0"/>
              <a:t> with 10 salt rounds before storage - never stored in plain text. On login/register, a JWT token (30-day expiry) is issued via </a:t>
            </a:r>
            <a:r>
              <a:rPr lang="en-IN" sz="2400" dirty="0" err="1"/>
              <a:t>generateToken</a:t>
            </a:r>
            <a:r>
              <a:rPr lang="en-IN" sz="2400" dirty="0"/>
              <a:t>(). Protected API routes use custom </a:t>
            </a:r>
            <a:r>
              <a:rPr lang="en-IN" sz="2400" dirty="0" err="1"/>
              <a:t>authMiddleware</a:t>
            </a:r>
            <a:r>
              <a:rPr lang="en-IN" sz="2400" dirty="0"/>
              <a:t> to verify the JWT from the Authorization: Bearer header before granting access.</a:t>
            </a:r>
          </a:p>
          <a:p>
            <a:pPr marL="114300" lvl="0" indent="0">
              <a:buNone/>
            </a:pPr>
            <a:endParaRPr lang="en-IN" sz="2400" dirty="0"/>
          </a:p>
          <a:p>
            <a:pPr lvl="0"/>
            <a:r>
              <a:rPr lang="en-IN" sz="2400" dirty="0"/>
              <a:t>Data Protection: Security headers enforced via helmet middleware on all responses. CORS is restricted to the specific FRONTEND_URL environment variable. All input is validated using express-validator on auth endpoints. Secrets (JWT_SECRET, MongoDB URI, </a:t>
            </a:r>
            <a:r>
              <a:rPr lang="en-IN" sz="2400" dirty="0" err="1"/>
              <a:t>NewsAPI</a:t>
            </a:r>
            <a:r>
              <a:rPr lang="en-IN" sz="2400" dirty="0"/>
              <a:t> key) are stored in .env files and never committed to Git.</a:t>
            </a:r>
          </a:p>
          <a:p>
            <a:pPr marL="457200" lvl="0" indent="-342900" algn="l" rtl="0">
              <a:lnSpc>
                <a:spcPct val="90000"/>
              </a:lnSpc>
              <a:spcBef>
                <a:spcPts val="2200"/>
              </a:spcBef>
              <a:spcAft>
                <a:spcPts val="0"/>
              </a:spcAft>
              <a:buSzPts val="1800"/>
              <a:buChar char="•"/>
            </a:pPr>
            <a:endParaRPr dirty="0"/>
          </a:p>
        </p:txBody>
      </p:sp>
      <p:sp>
        <p:nvSpPr>
          <p:cNvPr id="206" name="Google Shape;206;p2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lvl="0"/>
            <a:r>
              <a:rPr lang="en-US" dirty="0"/>
              <a:t>NEWS AGGREGATOR  </a:t>
            </a:r>
          </a:p>
        </p:txBody>
      </p:sp>
      <p:sp>
        <p:nvSpPr>
          <p:cNvPr id="207" name="Google Shape;207;p20"/>
          <p:cNvSpPr txBox="1">
            <a:spLocks noGrp="1"/>
          </p:cNvSpPr>
          <p:nvPr>
            <p:ph type="sldNum" idx="12"/>
          </p:nvPr>
        </p:nvSpPr>
        <p:spPr>
          <a:xfrm>
            <a:off x="8610600" y="6356350"/>
            <a:ext cx="2089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208" name="Google Shape;208;p20"/>
          <p:cNvSpPr txBox="1">
            <a:spLocks noGrp="1"/>
          </p:cNvSpPr>
          <p:nvPr>
            <p:ph type="title"/>
          </p:nvPr>
        </p:nvSpPr>
        <p:spPr>
          <a:xfrm>
            <a:off x="457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100"/>
              <a:buFont typeface="Arial"/>
              <a:buNone/>
            </a:pPr>
            <a:r>
              <a:rPr lang="en-US"/>
              <a:t>Security Measures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1"/>
          <p:cNvSpPr txBox="1">
            <a:spLocks noGrp="1"/>
          </p:cNvSpPr>
          <p:nvPr>
            <p:ph type="body" idx="1"/>
          </p:nvPr>
        </p:nvSpPr>
        <p:spPr>
          <a:xfrm>
            <a:off x="838200" y="1301358"/>
            <a:ext cx="10515600" cy="4790800"/>
          </a:xfrm>
          <a:prstGeom prst="rect">
            <a:avLst/>
          </a:prstGeom>
          <a:noFill/>
          <a:ln>
            <a:noFill/>
          </a:ln>
        </p:spPr>
        <p:txBody>
          <a:bodyPr spcFirstLastPara="1" wrap="square" lIns="91425" tIns="45700" rIns="91425" bIns="45700" anchor="t" anchorCtr="0">
            <a:noAutofit/>
          </a:bodyPr>
          <a:lstStyle/>
          <a:p>
            <a:pPr lvl="0"/>
            <a:r>
              <a:rPr lang="en-IN" sz="2400" dirty="0"/>
              <a:t>Technical Insights: Gained hands-on experience with the full MERN stack - designing Mongoose schemas and relationships, building secure REST APIs, implementing JWT authentication end-to-end, and managing global state in React using Context API instead of Redux for a leaner architecture.</a:t>
            </a:r>
          </a:p>
          <a:p>
            <a:pPr marL="114300" lvl="0" indent="0">
              <a:buNone/>
            </a:pPr>
            <a:endParaRPr lang="en-IN" sz="2400" dirty="0"/>
          </a:p>
          <a:p>
            <a:pPr lvl="0"/>
            <a:r>
              <a:rPr lang="en-IN" sz="2400" dirty="0"/>
              <a:t>Process Insights: Learned the importance of building resilient systems (API fallback strategy) for real-world reliability, structuring a </a:t>
            </a:r>
            <a:r>
              <a:rPr lang="en-IN" sz="2400" dirty="0" err="1"/>
              <a:t>monorepo</a:t>
            </a:r>
            <a:r>
              <a:rPr lang="en-IN" sz="2400" dirty="0"/>
              <a:t> for independent frontend/backend deployment, and keeping environment configuration and secrets properly separated between development and production.</a:t>
            </a:r>
          </a:p>
          <a:p>
            <a:pPr marL="114300" lvl="0" indent="0" algn="l" rtl="0">
              <a:lnSpc>
                <a:spcPct val="90000"/>
              </a:lnSpc>
              <a:spcBef>
                <a:spcPts val="2200"/>
              </a:spcBef>
              <a:spcAft>
                <a:spcPts val="0"/>
              </a:spcAft>
              <a:buSzPts val="1800"/>
              <a:buNone/>
            </a:pPr>
            <a:endParaRPr sz="2400" dirty="0"/>
          </a:p>
        </p:txBody>
      </p:sp>
      <p:sp>
        <p:nvSpPr>
          <p:cNvPr id="215" name="Google Shape;215;p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lvl="0"/>
            <a:r>
              <a:rPr lang="en-US" dirty="0"/>
              <a:t>NEWS AGGREGATOR  </a:t>
            </a:r>
          </a:p>
        </p:txBody>
      </p:sp>
      <p:sp>
        <p:nvSpPr>
          <p:cNvPr id="216" name="Google Shape;216;p21"/>
          <p:cNvSpPr txBox="1">
            <a:spLocks noGrp="1"/>
          </p:cNvSpPr>
          <p:nvPr>
            <p:ph type="sldNum" idx="12"/>
          </p:nvPr>
        </p:nvSpPr>
        <p:spPr>
          <a:xfrm>
            <a:off x="8610600" y="6356350"/>
            <a:ext cx="2089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217" name="Google Shape;217;p21"/>
          <p:cNvSpPr txBox="1">
            <a:spLocks noGrp="1"/>
          </p:cNvSpPr>
          <p:nvPr>
            <p:ph type="title"/>
          </p:nvPr>
        </p:nvSpPr>
        <p:spPr>
          <a:xfrm>
            <a:off x="457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100"/>
              <a:buFont typeface="Arial"/>
              <a:buNone/>
            </a:pPr>
            <a:r>
              <a:rPr lang="en-US"/>
              <a:t>Lessons Learned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4" name="Google Shape;224;p2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NEWS AGGREGATOR</a:t>
            </a:r>
          </a:p>
        </p:txBody>
      </p:sp>
      <p:sp>
        <p:nvSpPr>
          <p:cNvPr id="225" name="Google Shape;225;p22"/>
          <p:cNvSpPr txBox="1">
            <a:spLocks noGrp="1"/>
          </p:cNvSpPr>
          <p:nvPr>
            <p:ph type="sldNum" idx="12"/>
          </p:nvPr>
        </p:nvSpPr>
        <p:spPr>
          <a:xfrm>
            <a:off x="8610600" y="6356350"/>
            <a:ext cx="2089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dirty="0"/>
          </a:p>
        </p:txBody>
      </p:sp>
      <p:sp>
        <p:nvSpPr>
          <p:cNvPr id="226" name="Google Shape;226;p22"/>
          <p:cNvSpPr txBox="1">
            <a:spLocks noGrp="1"/>
          </p:cNvSpPr>
          <p:nvPr>
            <p:ph type="title"/>
          </p:nvPr>
        </p:nvSpPr>
        <p:spPr>
          <a:xfrm>
            <a:off x="1496533" y="472850"/>
            <a:ext cx="9203267" cy="461100"/>
          </a:xfrm>
          <a:prstGeom prst="rect">
            <a:avLst/>
          </a:prstGeom>
          <a:noFill/>
          <a:ln>
            <a:noFill/>
          </a:ln>
        </p:spPr>
        <p:txBody>
          <a:bodyPr spcFirstLastPara="1" wrap="square" lIns="91425" tIns="45700" rIns="91425" bIns="45700" anchor="ctr" anchorCtr="0">
            <a:noAutofit/>
          </a:bodyPr>
          <a:lstStyle/>
          <a:p>
            <a:pPr algn="ctr">
              <a:buClr>
                <a:schemeClr val="dk1"/>
              </a:buClr>
              <a:buSzPts val="1100"/>
            </a:pPr>
            <a:r>
              <a:rPr lang="en-IN" sz="2400" dirty="0"/>
              <a:t>Homepage displaying top headlines in a responsive card grid layout</a:t>
            </a:r>
            <a:br>
              <a:rPr lang="en-IN" dirty="0"/>
            </a:br>
            <a:endParaRPr dirty="0"/>
          </a:p>
        </p:txBody>
      </p:sp>
      <p:pic>
        <p:nvPicPr>
          <p:cNvPr id="3" name="Picture 2">
            <a:extLst>
              <a:ext uri="{FF2B5EF4-FFF2-40B4-BE49-F238E27FC236}">
                <a16:creationId xmlns:a16="http://schemas.microsoft.com/office/drawing/2014/main" id="{43482133-6214-A121-B1D8-4636F2B2F3AE}"/>
              </a:ext>
            </a:extLst>
          </p:cNvPr>
          <p:cNvPicPr>
            <a:picLocks noChangeAspect="1"/>
          </p:cNvPicPr>
          <p:nvPr/>
        </p:nvPicPr>
        <p:blipFill>
          <a:blip r:embed="rId3"/>
          <a:stretch>
            <a:fillRect/>
          </a:stretch>
        </p:blipFill>
        <p:spPr>
          <a:xfrm>
            <a:off x="2166042" y="723175"/>
            <a:ext cx="7859915" cy="5613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3" name="Google Shape;233;p2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NEWS AGGREGATOR</a:t>
            </a:r>
            <a:endParaRPr dirty="0"/>
          </a:p>
        </p:txBody>
      </p:sp>
      <p:sp>
        <p:nvSpPr>
          <p:cNvPr id="234" name="Google Shape;234;p23"/>
          <p:cNvSpPr txBox="1">
            <a:spLocks noGrp="1"/>
          </p:cNvSpPr>
          <p:nvPr>
            <p:ph type="sldNum" idx="12"/>
          </p:nvPr>
        </p:nvSpPr>
        <p:spPr>
          <a:xfrm>
            <a:off x="8610600" y="6356350"/>
            <a:ext cx="2089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235" name="Google Shape;235;p23"/>
          <p:cNvSpPr txBox="1">
            <a:spLocks noGrp="1"/>
          </p:cNvSpPr>
          <p:nvPr>
            <p:ph type="title"/>
          </p:nvPr>
        </p:nvSpPr>
        <p:spPr>
          <a:xfrm>
            <a:off x="457199" y="60325"/>
            <a:ext cx="10989733" cy="1325700"/>
          </a:xfrm>
          <a:prstGeom prst="rect">
            <a:avLst/>
          </a:prstGeom>
          <a:noFill/>
          <a:ln>
            <a:noFill/>
          </a:ln>
        </p:spPr>
        <p:txBody>
          <a:bodyPr spcFirstLastPara="1" wrap="square" lIns="91425" tIns="45700" rIns="91425" bIns="45700" anchor="ctr" anchorCtr="0">
            <a:noAutofit/>
          </a:bodyPr>
          <a:lstStyle/>
          <a:p>
            <a:pPr algn="ctr">
              <a:buClr>
                <a:schemeClr val="dk1"/>
              </a:buClr>
              <a:buSzPts val="1100"/>
            </a:pPr>
            <a:r>
              <a:rPr lang="en-IN" sz="2400" dirty="0"/>
              <a:t>User registration form with category preference selection for feed personalization</a:t>
            </a:r>
            <a:br>
              <a:rPr lang="en-IN" dirty="0"/>
            </a:br>
            <a:endParaRPr dirty="0"/>
          </a:p>
        </p:txBody>
      </p:sp>
      <p:pic>
        <p:nvPicPr>
          <p:cNvPr id="4" name="Picture 3">
            <a:extLst>
              <a:ext uri="{FF2B5EF4-FFF2-40B4-BE49-F238E27FC236}">
                <a16:creationId xmlns:a16="http://schemas.microsoft.com/office/drawing/2014/main" id="{734613A9-0559-C478-1F34-95F1F309493A}"/>
              </a:ext>
            </a:extLst>
          </p:cNvPr>
          <p:cNvPicPr>
            <a:picLocks noChangeAspect="1"/>
          </p:cNvPicPr>
          <p:nvPr/>
        </p:nvPicPr>
        <p:blipFill>
          <a:blip r:embed="rId3"/>
          <a:stretch>
            <a:fillRect/>
          </a:stretch>
        </p:blipFill>
        <p:spPr>
          <a:xfrm>
            <a:off x="745068" y="833073"/>
            <a:ext cx="5012265" cy="3185647"/>
          </a:xfrm>
          <a:prstGeom prst="rect">
            <a:avLst/>
          </a:prstGeom>
        </p:spPr>
      </p:pic>
      <p:pic>
        <p:nvPicPr>
          <p:cNvPr id="6" name="Picture 5">
            <a:extLst>
              <a:ext uri="{FF2B5EF4-FFF2-40B4-BE49-F238E27FC236}">
                <a16:creationId xmlns:a16="http://schemas.microsoft.com/office/drawing/2014/main" id="{7D116836-BA74-38CF-0C0A-EC9A1AC94B49}"/>
              </a:ext>
            </a:extLst>
          </p:cNvPr>
          <p:cNvPicPr>
            <a:picLocks noChangeAspect="1"/>
          </p:cNvPicPr>
          <p:nvPr/>
        </p:nvPicPr>
        <p:blipFill>
          <a:blip r:embed="rId4"/>
          <a:stretch>
            <a:fillRect/>
          </a:stretch>
        </p:blipFill>
        <p:spPr>
          <a:xfrm>
            <a:off x="5757333" y="2957049"/>
            <a:ext cx="5422715" cy="292946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2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lvl="0"/>
            <a:r>
              <a:rPr lang="en-US" dirty="0"/>
              <a:t>NEWS AGGREGATOR</a:t>
            </a:r>
          </a:p>
        </p:txBody>
      </p:sp>
      <p:sp>
        <p:nvSpPr>
          <p:cNvPr id="243" name="Google Shape;243;p24"/>
          <p:cNvSpPr txBox="1">
            <a:spLocks noGrp="1"/>
          </p:cNvSpPr>
          <p:nvPr>
            <p:ph type="sldNum" idx="12"/>
          </p:nvPr>
        </p:nvSpPr>
        <p:spPr>
          <a:xfrm>
            <a:off x="8610600" y="6356350"/>
            <a:ext cx="2089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244" name="Google Shape;244;p24"/>
          <p:cNvSpPr txBox="1">
            <a:spLocks noGrp="1"/>
          </p:cNvSpPr>
          <p:nvPr>
            <p:ph type="title"/>
          </p:nvPr>
        </p:nvSpPr>
        <p:spPr>
          <a:xfrm>
            <a:off x="677334" y="-276016"/>
            <a:ext cx="10515600" cy="1325700"/>
          </a:xfrm>
          <a:prstGeom prst="rect">
            <a:avLst/>
          </a:prstGeom>
          <a:noFill/>
          <a:ln>
            <a:noFill/>
          </a:ln>
        </p:spPr>
        <p:txBody>
          <a:bodyPr spcFirstLastPara="1" wrap="square" lIns="91425" tIns="45700" rIns="91425" bIns="45700" anchor="ctr" anchorCtr="0">
            <a:noAutofit/>
          </a:bodyPr>
          <a:lstStyle/>
          <a:p>
            <a:pPr lvl="0" algn="ctr"/>
            <a:r>
              <a:rPr lang="en-IN" sz="2400" dirty="0"/>
              <a:t>Category-filtered news feed and live search results page</a:t>
            </a:r>
          </a:p>
        </p:txBody>
      </p:sp>
      <p:pic>
        <p:nvPicPr>
          <p:cNvPr id="4" name="Picture 3">
            <a:extLst>
              <a:ext uri="{FF2B5EF4-FFF2-40B4-BE49-F238E27FC236}">
                <a16:creationId xmlns:a16="http://schemas.microsoft.com/office/drawing/2014/main" id="{3D5F656F-0A49-2C7E-5DED-0660FA9028BC}"/>
              </a:ext>
            </a:extLst>
          </p:cNvPr>
          <p:cNvPicPr>
            <a:picLocks noChangeAspect="1"/>
          </p:cNvPicPr>
          <p:nvPr/>
        </p:nvPicPr>
        <p:blipFill>
          <a:blip r:embed="rId3"/>
          <a:stretch>
            <a:fillRect/>
          </a:stretch>
        </p:blipFill>
        <p:spPr>
          <a:xfrm>
            <a:off x="677334" y="731509"/>
            <a:ext cx="5418666" cy="3696700"/>
          </a:xfrm>
          <a:prstGeom prst="rect">
            <a:avLst/>
          </a:prstGeom>
        </p:spPr>
      </p:pic>
      <p:pic>
        <p:nvPicPr>
          <p:cNvPr id="6" name="Picture 5">
            <a:extLst>
              <a:ext uri="{FF2B5EF4-FFF2-40B4-BE49-F238E27FC236}">
                <a16:creationId xmlns:a16="http://schemas.microsoft.com/office/drawing/2014/main" id="{7019F98B-BE4F-E34F-2B34-82CC152B17ED}"/>
              </a:ext>
            </a:extLst>
          </p:cNvPr>
          <p:cNvPicPr>
            <a:picLocks noChangeAspect="1"/>
          </p:cNvPicPr>
          <p:nvPr/>
        </p:nvPicPr>
        <p:blipFill>
          <a:blip r:embed="rId4"/>
          <a:stretch>
            <a:fillRect/>
          </a:stretch>
        </p:blipFill>
        <p:spPr>
          <a:xfrm>
            <a:off x="6096000" y="2340724"/>
            <a:ext cx="5405304" cy="358628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AEC07-4DD0-B158-58C9-109F7FD3C906}"/>
              </a:ext>
            </a:extLst>
          </p:cNvPr>
          <p:cNvSpPr>
            <a:spLocks noGrp="1"/>
          </p:cNvSpPr>
          <p:nvPr>
            <p:ph type="title"/>
          </p:nvPr>
        </p:nvSpPr>
        <p:spPr>
          <a:xfrm>
            <a:off x="693594" y="136550"/>
            <a:ext cx="10515600" cy="1325700"/>
          </a:xfrm>
        </p:spPr>
        <p:txBody>
          <a:bodyPr/>
          <a:lstStyle/>
          <a:p>
            <a:r>
              <a:rPr lang="en-IN" sz="2400" dirty="0"/>
              <a:t>User's saved bookmarks and profile editor showing preferred categories</a:t>
            </a:r>
            <a:br>
              <a:rPr lang="en-IN" sz="2400" dirty="0"/>
            </a:br>
            <a:endParaRPr lang="en-IN" sz="2400" dirty="0"/>
          </a:p>
        </p:txBody>
      </p:sp>
      <p:sp>
        <p:nvSpPr>
          <p:cNvPr id="4" name="Slide Number Placeholder 3">
            <a:extLst>
              <a:ext uri="{FF2B5EF4-FFF2-40B4-BE49-F238E27FC236}">
                <a16:creationId xmlns:a16="http://schemas.microsoft.com/office/drawing/2014/main" id="{7409DB03-7355-0EE8-95F1-3F7EA2CF6FE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dirty="0"/>
          </a:p>
        </p:txBody>
      </p:sp>
      <p:sp>
        <p:nvSpPr>
          <p:cNvPr id="6" name="TextBox 5">
            <a:extLst>
              <a:ext uri="{FF2B5EF4-FFF2-40B4-BE49-F238E27FC236}">
                <a16:creationId xmlns:a16="http://schemas.microsoft.com/office/drawing/2014/main" id="{D94E0698-3C8F-ED39-8F0D-072FDC70D221}"/>
              </a:ext>
            </a:extLst>
          </p:cNvPr>
          <p:cNvSpPr txBox="1"/>
          <p:nvPr/>
        </p:nvSpPr>
        <p:spPr>
          <a:xfrm>
            <a:off x="2742528" y="6400400"/>
            <a:ext cx="6417732" cy="276999"/>
          </a:xfrm>
          <a:prstGeom prst="rect">
            <a:avLst/>
          </a:prstGeom>
          <a:noFill/>
        </p:spPr>
        <p:txBody>
          <a:bodyPr wrap="square">
            <a:spAutoFit/>
          </a:bodyPr>
          <a:lstStyle/>
          <a:p>
            <a:pPr marL="0" lvl="0" indent="0" algn="ctr" rtl="0">
              <a:spcBef>
                <a:spcPts val="0"/>
              </a:spcBef>
              <a:spcAft>
                <a:spcPts val="0"/>
              </a:spcAft>
              <a:buNone/>
            </a:pP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NEWS AGGREGATOR</a:t>
            </a:r>
          </a:p>
        </p:txBody>
      </p:sp>
      <p:pic>
        <p:nvPicPr>
          <p:cNvPr id="9" name="Picture 8">
            <a:extLst>
              <a:ext uri="{FF2B5EF4-FFF2-40B4-BE49-F238E27FC236}">
                <a16:creationId xmlns:a16="http://schemas.microsoft.com/office/drawing/2014/main" id="{FAFC12E8-5AE6-42CE-F64A-BE8EE1C52CE1}"/>
              </a:ext>
            </a:extLst>
          </p:cNvPr>
          <p:cNvPicPr>
            <a:picLocks noChangeAspect="1"/>
          </p:cNvPicPr>
          <p:nvPr/>
        </p:nvPicPr>
        <p:blipFill>
          <a:blip r:embed="rId2"/>
          <a:stretch>
            <a:fillRect/>
          </a:stretch>
        </p:blipFill>
        <p:spPr>
          <a:xfrm>
            <a:off x="858702" y="939801"/>
            <a:ext cx="4929679" cy="3454400"/>
          </a:xfrm>
          <a:prstGeom prst="rect">
            <a:avLst/>
          </a:prstGeom>
        </p:spPr>
      </p:pic>
      <p:pic>
        <p:nvPicPr>
          <p:cNvPr id="11" name="Picture 10">
            <a:extLst>
              <a:ext uri="{FF2B5EF4-FFF2-40B4-BE49-F238E27FC236}">
                <a16:creationId xmlns:a16="http://schemas.microsoft.com/office/drawing/2014/main" id="{4939A840-93B2-CB96-67A8-BBE0EBBB58E9}"/>
              </a:ext>
            </a:extLst>
          </p:cNvPr>
          <p:cNvPicPr>
            <a:picLocks noChangeAspect="1"/>
          </p:cNvPicPr>
          <p:nvPr/>
        </p:nvPicPr>
        <p:blipFill>
          <a:blip r:embed="rId3"/>
          <a:stretch>
            <a:fillRect/>
          </a:stretch>
        </p:blipFill>
        <p:spPr>
          <a:xfrm>
            <a:off x="5788381" y="2667001"/>
            <a:ext cx="5420813" cy="3454400"/>
          </a:xfrm>
          <a:prstGeom prst="rect">
            <a:avLst/>
          </a:prstGeom>
        </p:spPr>
      </p:pic>
    </p:spTree>
    <p:extLst>
      <p:ext uri="{BB962C8B-B14F-4D97-AF65-F5344CB8AC3E}">
        <p14:creationId xmlns:p14="http://schemas.microsoft.com/office/powerpoint/2010/main" val="4146766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5"/>
          <p:cNvSpPr txBox="1">
            <a:spLocks noGrp="1"/>
          </p:cNvSpPr>
          <p:nvPr>
            <p:ph type="body" idx="1"/>
          </p:nvPr>
        </p:nvSpPr>
        <p:spPr>
          <a:xfrm>
            <a:off x="838200" y="1386025"/>
            <a:ext cx="10515600" cy="4351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2200"/>
              </a:spcBef>
              <a:spcAft>
                <a:spcPts val="0"/>
              </a:spcAft>
              <a:buSzPts val="1800"/>
              <a:buChar char="•"/>
            </a:pPr>
            <a:r>
              <a:rPr lang="en-US" sz="2400" dirty="0"/>
              <a:t>Record a live demonstration of your project and upload the video to your Google Drive.</a:t>
            </a:r>
            <a:endParaRPr sz="2400" dirty="0"/>
          </a:p>
          <a:p>
            <a:pPr marL="457200" lvl="0" indent="-342900" algn="l" rtl="0">
              <a:spcBef>
                <a:spcPts val="0"/>
              </a:spcBef>
              <a:spcAft>
                <a:spcPts val="0"/>
              </a:spcAft>
              <a:buSzPts val="1800"/>
              <a:buChar char="•"/>
            </a:pPr>
            <a:r>
              <a:rPr lang="en-US" sz="2400" dirty="0"/>
              <a:t>Ensure that the video is shared with public access so that it can be viewed without restrictions.</a:t>
            </a:r>
            <a:endParaRPr sz="2400" dirty="0"/>
          </a:p>
          <a:p>
            <a:pPr marL="457200" lvl="0" indent="-342900" algn="l" rtl="0">
              <a:spcBef>
                <a:spcPts val="0"/>
              </a:spcBef>
              <a:spcAft>
                <a:spcPts val="0"/>
              </a:spcAft>
              <a:buSzPts val="1800"/>
              <a:buChar char="•"/>
            </a:pPr>
            <a:r>
              <a:rPr lang="en-US" sz="2400" dirty="0"/>
              <a:t>Add the demo video link to this slide in the designated section.</a:t>
            </a:r>
            <a:endParaRPr sz="2400" dirty="0"/>
          </a:p>
          <a:p>
            <a:pPr marL="0" lvl="0" indent="0" algn="l" rtl="0">
              <a:spcBef>
                <a:spcPts val="2200"/>
              </a:spcBef>
              <a:spcAft>
                <a:spcPts val="0"/>
              </a:spcAft>
              <a:buNone/>
            </a:pPr>
            <a:endParaRPr sz="2400" dirty="0"/>
          </a:p>
        </p:txBody>
      </p:sp>
      <p:sp>
        <p:nvSpPr>
          <p:cNvPr id="251" name="Google Shape;251;p2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NEWS AGGREGATOR</a:t>
            </a:r>
            <a:endParaRPr dirty="0"/>
          </a:p>
        </p:txBody>
      </p:sp>
      <p:sp>
        <p:nvSpPr>
          <p:cNvPr id="252" name="Google Shape;252;p25"/>
          <p:cNvSpPr txBox="1">
            <a:spLocks noGrp="1"/>
          </p:cNvSpPr>
          <p:nvPr>
            <p:ph type="sldNum" idx="12"/>
          </p:nvPr>
        </p:nvSpPr>
        <p:spPr>
          <a:xfrm>
            <a:off x="8610600" y="6356350"/>
            <a:ext cx="2089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
        <p:nvSpPr>
          <p:cNvPr id="253" name="Google Shape;253;p25"/>
          <p:cNvSpPr txBox="1">
            <a:spLocks noGrp="1"/>
          </p:cNvSpPr>
          <p:nvPr>
            <p:ph type="title"/>
          </p:nvPr>
        </p:nvSpPr>
        <p:spPr>
          <a:xfrm>
            <a:off x="457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100"/>
              <a:buFont typeface="Arial"/>
              <a:buNone/>
            </a:pPr>
            <a:r>
              <a:rPr lang="en-US" dirty="0"/>
              <a:t>Live Demo</a:t>
            </a:r>
            <a:endParaRPr dirty="0"/>
          </a:p>
        </p:txBody>
      </p:sp>
      <p:sp>
        <p:nvSpPr>
          <p:cNvPr id="3" name="TextBox 2">
            <a:extLst>
              <a:ext uri="{FF2B5EF4-FFF2-40B4-BE49-F238E27FC236}">
                <a16:creationId xmlns:a16="http://schemas.microsoft.com/office/drawing/2014/main" id="{431B7A25-CF34-7166-9916-238AA44CA8BE}"/>
              </a:ext>
            </a:extLst>
          </p:cNvPr>
          <p:cNvSpPr txBox="1"/>
          <p:nvPr/>
        </p:nvSpPr>
        <p:spPr>
          <a:xfrm>
            <a:off x="1041400" y="4086023"/>
            <a:ext cx="10109200" cy="646331"/>
          </a:xfrm>
          <a:prstGeom prst="rect">
            <a:avLst/>
          </a:prstGeom>
          <a:noFill/>
        </p:spPr>
        <p:txBody>
          <a:bodyPr wrap="square">
            <a:spAutoFit/>
          </a:bodyPr>
          <a:lstStyle/>
          <a:p>
            <a:r>
              <a:rPr lang="en-IN" sz="1800" dirty="0">
                <a:solidFill>
                  <a:srgbClr val="FFFF00"/>
                </a:solidFill>
              </a:rPr>
              <a:t>LIVE DEMO DRIVE LINK : </a:t>
            </a:r>
            <a:r>
              <a:rPr lang="en-IN" sz="1800" dirty="0">
                <a:solidFill>
                  <a:srgbClr val="FFFF00"/>
                </a:solidFill>
                <a:hlinkClick r:id="rId3">
                  <a:extLst>
                    <a:ext uri="{A12FA001-AC4F-418D-AE19-62706E023703}">
                      <ahyp:hlinkClr xmlns:ahyp="http://schemas.microsoft.com/office/drawing/2018/hyperlinkcolor" val="tx"/>
                    </a:ext>
                  </a:extLst>
                </a:hlinkClick>
              </a:rPr>
              <a:t>https://drive.google.com/file/d/1Rbwfnp7iHOigTDGeBC5KReGQnfMIXDRg/view?usp=sharing</a:t>
            </a:r>
            <a:endParaRPr lang="en-IN" sz="1800" dirty="0">
              <a:solidFill>
                <a:srgbClr val="FFFF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6"/>
          <p:cNvSpPr txBox="1">
            <a:spLocks noGrp="1"/>
          </p:cNvSpPr>
          <p:nvPr>
            <p:ph type="body" idx="1"/>
          </p:nvPr>
        </p:nvSpPr>
        <p:spPr>
          <a:xfrm>
            <a:off x="753533" y="1459742"/>
            <a:ext cx="10515600" cy="3323925"/>
          </a:xfrm>
          <a:prstGeom prst="rect">
            <a:avLst/>
          </a:prstGeom>
          <a:noFill/>
          <a:ln>
            <a:noFill/>
          </a:ln>
        </p:spPr>
        <p:txBody>
          <a:bodyPr spcFirstLastPara="1" wrap="square" lIns="91425" tIns="45700" rIns="91425" bIns="45700" anchor="t" anchorCtr="0">
            <a:noAutofit/>
          </a:bodyPr>
          <a:lstStyle/>
          <a:p>
            <a:pPr lvl="0"/>
            <a:r>
              <a:rPr lang="en-IN" sz="2400" dirty="0"/>
              <a:t>Improvements: Add social features like article sharing and comments, infinite scroll/pagination for news feeds, dark mode UI, email notifications for new articles in preferred categories, and multi-language news support.</a:t>
            </a:r>
          </a:p>
          <a:p>
            <a:pPr marL="114300" lvl="0" indent="0">
              <a:buNone/>
            </a:pPr>
            <a:endParaRPr lang="en-IN" sz="2400" dirty="0"/>
          </a:p>
          <a:p>
            <a:pPr lvl="0"/>
            <a:r>
              <a:rPr lang="en-IN" sz="2400" dirty="0"/>
              <a:t>Next Steps: Integrate a paid </a:t>
            </a:r>
            <a:r>
              <a:rPr lang="en-IN" sz="2400" dirty="0" err="1"/>
              <a:t>NewsAPI</a:t>
            </a:r>
            <a:r>
              <a:rPr lang="en-IN" sz="2400" dirty="0"/>
              <a:t> tier or multiple news sources for richer content, add a recommendation engine based on reading/bookmark history, implement Redis caching to reduce API calls, and add automated testing (Jest/</a:t>
            </a:r>
            <a:r>
              <a:rPr lang="en-IN" sz="2400" dirty="0" err="1"/>
              <a:t>Supertest</a:t>
            </a:r>
            <a:r>
              <a:rPr lang="en-IN" sz="2400" dirty="0"/>
              <a:t>) with CI/CD pipelines.</a:t>
            </a:r>
          </a:p>
          <a:p>
            <a:pPr marL="114300" lvl="0" indent="0" algn="l" rtl="0">
              <a:lnSpc>
                <a:spcPct val="90000"/>
              </a:lnSpc>
              <a:spcBef>
                <a:spcPts val="0"/>
              </a:spcBef>
              <a:spcAft>
                <a:spcPts val="0"/>
              </a:spcAft>
              <a:buSzPts val="1800"/>
              <a:buNone/>
            </a:pPr>
            <a:endParaRPr sz="2400" dirty="0"/>
          </a:p>
        </p:txBody>
      </p:sp>
      <p:sp>
        <p:nvSpPr>
          <p:cNvPr id="260" name="Google Shape;260;p2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lvl="0"/>
            <a:r>
              <a:rPr lang="en-US" dirty="0"/>
              <a:t>NEWS AGGREGATOR</a:t>
            </a:r>
          </a:p>
        </p:txBody>
      </p:sp>
      <p:sp>
        <p:nvSpPr>
          <p:cNvPr id="261" name="Google Shape;261;p26"/>
          <p:cNvSpPr txBox="1">
            <a:spLocks noGrp="1"/>
          </p:cNvSpPr>
          <p:nvPr>
            <p:ph type="sldNum" idx="12"/>
          </p:nvPr>
        </p:nvSpPr>
        <p:spPr>
          <a:xfrm>
            <a:off x="8610600" y="6356350"/>
            <a:ext cx="2089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
        <p:nvSpPr>
          <p:cNvPr id="262" name="Google Shape;262;p26"/>
          <p:cNvSpPr txBox="1">
            <a:spLocks noGrp="1"/>
          </p:cNvSpPr>
          <p:nvPr>
            <p:ph type="title"/>
          </p:nvPr>
        </p:nvSpPr>
        <p:spPr>
          <a:xfrm>
            <a:off x="533400" y="134042"/>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100"/>
              <a:buFont typeface="Arial"/>
              <a:buNone/>
            </a:pPr>
            <a:r>
              <a:rPr lang="en-US" dirty="0"/>
              <a:t>Future Scope</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p>
            <a:pPr marL="457200" lvl="0" indent="-342900" algn="l" rtl="0">
              <a:lnSpc>
                <a:spcPct val="90000"/>
              </a:lnSpc>
              <a:spcBef>
                <a:spcPts val="2200"/>
              </a:spcBef>
              <a:spcAft>
                <a:spcPts val="0"/>
              </a:spcAft>
              <a:buSzPts val="1800"/>
              <a:buChar char="•"/>
            </a:pPr>
            <a:r>
              <a:rPr lang="en-US" sz="2400" dirty="0"/>
              <a:t>Questions: Opening the floor for any questions from the audience.</a:t>
            </a:r>
            <a:endParaRPr sz="2400" dirty="0"/>
          </a:p>
        </p:txBody>
      </p:sp>
      <p:sp>
        <p:nvSpPr>
          <p:cNvPr id="269" name="Google Shape;269;p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NEWS AGGREGRATOR</a:t>
            </a:r>
            <a:endParaRPr dirty="0"/>
          </a:p>
        </p:txBody>
      </p:sp>
      <p:sp>
        <p:nvSpPr>
          <p:cNvPr id="270" name="Google Shape;270;p27"/>
          <p:cNvSpPr txBox="1">
            <a:spLocks noGrp="1"/>
          </p:cNvSpPr>
          <p:nvPr>
            <p:ph type="sldNum" idx="12"/>
          </p:nvPr>
        </p:nvSpPr>
        <p:spPr>
          <a:xfrm>
            <a:off x="8610600" y="6356350"/>
            <a:ext cx="2089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
        <p:nvSpPr>
          <p:cNvPr id="271" name="Google Shape;271;p27"/>
          <p:cNvSpPr txBox="1">
            <a:spLocks noGrp="1"/>
          </p:cNvSpPr>
          <p:nvPr>
            <p:ph type="title"/>
          </p:nvPr>
        </p:nvSpPr>
        <p:spPr>
          <a:xfrm>
            <a:off x="457200" y="60325"/>
            <a:ext cx="10515600" cy="1325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100"/>
              <a:buFont typeface="Arial"/>
              <a:buNone/>
            </a:pPr>
            <a:r>
              <a:rPr lang="en-US"/>
              <a:t>Questions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4188533" y="883038"/>
            <a:ext cx="3814933" cy="9414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6000"/>
              <a:buFont typeface="Calibri"/>
              <a:buNone/>
            </a:pPr>
            <a:r>
              <a:rPr lang="en-US" dirty="0"/>
              <a:t>Thank You!</a:t>
            </a:r>
            <a:endParaRPr dirty="0"/>
          </a:p>
        </p:txBody>
      </p:sp>
      <p:sp>
        <p:nvSpPr>
          <p:cNvPr id="296" name="Google Shape;296;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
        <p:nvSpPr>
          <p:cNvPr id="297" name="Google Shape;297;p30"/>
          <p:cNvSpPr/>
          <p:nvPr/>
        </p:nvSpPr>
        <p:spPr>
          <a:xfrm>
            <a:off x="0" y="0"/>
            <a:ext cx="12192001" cy="6858000"/>
          </a:xfrm>
          <a:custGeom>
            <a:avLst/>
            <a:gdLst/>
            <a:ahLst/>
            <a:cxnLst/>
            <a:rect l="l" t="t" r="r" b="b"/>
            <a:pathLst>
              <a:path w="21600" h="21600" extrusionOk="0">
                <a:moveTo>
                  <a:pt x="21598" y="14626"/>
                </a:moveTo>
                <a:cubicBezTo>
                  <a:pt x="21593" y="14630"/>
                  <a:pt x="21591" y="14630"/>
                  <a:pt x="21587" y="14634"/>
                </a:cubicBezTo>
                <a:lnTo>
                  <a:pt x="17103" y="17452"/>
                </a:lnTo>
                <a:cubicBezTo>
                  <a:pt x="16767" y="17663"/>
                  <a:pt x="16424" y="17165"/>
                  <a:pt x="16473" y="16540"/>
                </a:cubicBezTo>
                <a:lnTo>
                  <a:pt x="16865" y="11449"/>
                </a:lnTo>
                <a:cubicBezTo>
                  <a:pt x="16899" y="11011"/>
                  <a:pt x="17118" y="10693"/>
                  <a:pt x="17367" y="10720"/>
                </a:cubicBezTo>
                <a:lnTo>
                  <a:pt x="21600" y="11198"/>
                </a:lnTo>
                <a:lnTo>
                  <a:pt x="21600" y="9502"/>
                </a:lnTo>
                <a:lnTo>
                  <a:pt x="17566" y="9048"/>
                </a:lnTo>
                <a:cubicBezTo>
                  <a:pt x="17291" y="9017"/>
                  <a:pt x="17087" y="8575"/>
                  <a:pt x="17125" y="8089"/>
                </a:cubicBezTo>
                <a:lnTo>
                  <a:pt x="17710" y="498"/>
                </a:lnTo>
                <a:cubicBezTo>
                  <a:pt x="17723" y="322"/>
                  <a:pt x="17705" y="151"/>
                  <a:pt x="17663" y="4"/>
                </a:cubicBezTo>
                <a:lnTo>
                  <a:pt x="16811" y="4"/>
                </a:lnTo>
                <a:cubicBezTo>
                  <a:pt x="16789" y="84"/>
                  <a:pt x="16773" y="175"/>
                  <a:pt x="16764" y="267"/>
                </a:cubicBezTo>
                <a:lnTo>
                  <a:pt x="16160" y="8105"/>
                </a:lnTo>
                <a:cubicBezTo>
                  <a:pt x="16126" y="8543"/>
                  <a:pt x="15907" y="8861"/>
                  <a:pt x="15658" y="8833"/>
                </a:cubicBezTo>
                <a:lnTo>
                  <a:pt x="3055" y="7412"/>
                </a:lnTo>
                <a:cubicBezTo>
                  <a:pt x="2853" y="7388"/>
                  <a:pt x="2681" y="7142"/>
                  <a:pt x="2627" y="6795"/>
                </a:cubicBezTo>
                <a:lnTo>
                  <a:pt x="1559" y="0"/>
                </a:lnTo>
                <a:lnTo>
                  <a:pt x="641" y="0"/>
                </a:lnTo>
                <a:cubicBezTo>
                  <a:pt x="618" y="143"/>
                  <a:pt x="618" y="299"/>
                  <a:pt x="641" y="450"/>
                </a:cubicBezTo>
                <a:lnTo>
                  <a:pt x="1530" y="6115"/>
                </a:lnTo>
                <a:cubicBezTo>
                  <a:pt x="1617" y="6676"/>
                  <a:pt x="1368" y="7225"/>
                  <a:pt x="1041" y="7185"/>
                </a:cubicBezTo>
                <a:lnTo>
                  <a:pt x="0" y="7066"/>
                </a:lnTo>
                <a:lnTo>
                  <a:pt x="0" y="8762"/>
                </a:lnTo>
                <a:lnTo>
                  <a:pt x="1646" y="8949"/>
                </a:lnTo>
                <a:cubicBezTo>
                  <a:pt x="1848" y="8973"/>
                  <a:pt x="2020" y="9220"/>
                  <a:pt x="2074" y="9566"/>
                </a:cubicBezTo>
                <a:lnTo>
                  <a:pt x="3964" y="21600"/>
                </a:lnTo>
                <a:lnTo>
                  <a:pt x="4894" y="21600"/>
                </a:lnTo>
                <a:cubicBezTo>
                  <a:pt x="4910" y="21469"/>
                  <a:pt x="4910" y="21325"/>
                  <a:pt x="4887" y="21186"/>
                </a:cubicBezTo>
                <a:lnTo>
                  <a:pt x="3169" y="10247"/>
                </a:lnTo>
                <a:cubicBezTo>
                  <a:pt x="3082" y="9685"/>
                  <a:pt x="3330" y="9136"/>
                  <a:pt x="3657" y="9176"/>
                </a:cubicBezTo>
                <a:lnTo>
                  <a:pt x="15459" y="10505"/>
                </a:lnTo>
                <a:cubicBezTo>
                  <a:pt x="15734" y="10537"/>
                  <a:pt x="15938" y="10979"/>
                  <a:pt x="15900" y="11465"/>
                </a:cubicBezTo>
                <a:lnTo>
                  <a:pt x="15394" y="18037"/>
                </a:lnTo>
                <a:cubicBezTo>
                  <a:pt x="15369" y="18352"/>
                  <a:pt x="15248" y="18614"/>
                  <a:pt x="15080" y="18722"/>
                </a:cubicBezTo>
                <a:lnTo>
                  <a:pt x="10502" y="21600"/>
                </a:lnTo>
                <a:lnTo>
                  <a:pt x="13358" y="21600"/>
                </a:lnTo>
                <a:lnTo>
                  <a:pt x="14471" y="20899"/>
                </a:lnTo>
                <a:cubicBezTo>
                  <a:pt x="14769" y="20712"/>
                  <a:pt x="15069" y="21079"/>
                  <a:pt x="15103" y="21600"/>
                </a:cubicBezTo>
                <a:lnTo>
                  <a:pt x="16079" y="21600"/>
                </a:lnTo>
                <a:lnTo>
                  <a:pt x="16178" y="20314"/>
                </a:lnTo>
                <a:cubicBezTo>
                  <a:pt x="16202" y="20000"/>
                  <a:pt x="16323" y="19737"/>
                  <a:pt x="16491" y="19629"/>
                </a:cubicBezTo>
                <a:lnTo>
                  <a:pt x="21596" y="16421"/>
                </a:lnTo>
                <a:lnTo>
                  <a:pt x="21596" y="14626"/>
                </a:lnTo>
                <a:close/>
              </a:path>
            </a:pathLst>
          </a:custGeom>
          <a:gradFill>
            <a:gsLst>
              <a:gs pos="0">
                <a:srgbClr val="76CEEF"/>
              </a:gs>
              <a:gs pos="100000">
                <a:srgbClr val="1C6294"/>
              </a:gs>
            </a:gsLst>
            <a:path path="circle">
              <a:fillToRect l="100000" b="100000"/>
            </a:path>
            <a:tileRect t="-100000" r="-100000"/>
          </a:gradFill>
          <a:ln>
            <a:noFill/>
          </a:ln>
          <a:effectLst>
            <a:outerShdw blurRad="317500" dist="190500" dir="5400000" algn="t" rotWithShape="0">
              <a:srgbClr val="124163">
                <a:alpha val="20000"/>
              </a:srgbClr>
            </a:outerShdw>
          </a:effectLst>
        </p:spPr>
        <p:txBody>
          <a:bodyPr spcFirstLastPara="1" wrap="square" lIns="38100" tIns="38100" rIns="38100" bIns="381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8" name="Google Shape;298;p30"/>
          <p:cNvSpPr txBox="1">
            <a:spLocks noGrp="1"/>
          </p:cNvSpPr>
          <p:nvPr>
            <p:ph type="body" idx="4294967295"/>
          </p:nvPr>
        </p:nvSpPr>
        <p:spPr>
          <a:xfrm>
            <a:off x="2393700" y="2859875"/>
            <a:ext cx="7588500" cy="9414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1200"/>
              <a:buNone/>
            </a:pPr>
            <a:r>
              <a:rPr lang="en-US" sz="4800" dirty="0"/>
              <a:t>NEWS AGGREGATOR </a:t>
            </a:r>
            <a:endParaRPr sz="4800" dirty="0"/>
          </a:p>
        </p:txBody>
      </p:sp>
      <p:sp>
        <p:nvSpPr>
          <p:cNvPr id="299" name="Google Shape;299;p30"/>
          <p:cNvSpPr txBox="1">
            <a:spLocks noGrp="1"/>
          </p:cNvSpPr>
          <p:nvPr>
            <p:ph type="body" idx="4294967295"/>
          </p:nvPr>
        </p:nvSpPr>
        <p:spPr>
          <a:xfrm>
            <a:off x="3962399" y="4590237"/>
            <a:ext cx="4267200" cy="1656600"/>
          </a:xfrm>
          <a:prstGeom prst="rect">
            <a:avLst/>
          </a:prstGeom>
          <a:noFill/>
          <a:ln>
            <a:noFill/>
          </a:ln>
        </p:spPr>
        <p:txBody>
          <a:bodyPr spcFirstLastPara="1" wrap="square" lIns="91425" tIns="45700" rIns="91425" bIns="45700" anchor="t" anchorCtr="0">
            <a:noAutofit/>
          </a:bodyPr>
          <a:lstStyle/>
          <a:p>
            <a:pPr marL="0" lvl="0" indent="0" algn="ctr">
              <a:spcBef>
                <a:spcPts val="0"/>
              </a:spcBef>
              <a:buSzPts val="1200"/>
              <a:buNone/>
            </a:pPr>
            <a:r>
              <a:rPr lang="en-US" sz="2400" dirty="0"/>
              <a:t>Group 24</a:t>
            </a:r>
          </a:p>
          <a:p>
            <a:pPr marL="0" lvl="0" indent="0" algn="ctr">
              <a:spcBef>
                <a:spcPts val="0"/>
              </a:spcBef>
              <a:buSzPts val="1200"/>
              <a:buNone/>
            </a:pPr>
            <a:r>
              <a:rPr lang="en-US" sz="2400" dirty="0"/>
              <a:t>Shreya Sundli</a:t>
            </a:r>
          </a:p>
          <a:p>
            <a:pPr marL="0" indent="0" algn="ctr">
              <a:spcBef>
                <a:spcPts val="0"/>
              </a:spcBef>
              <a:buSzPts val="1200"/>
              <a:buNone/>
            </a:pPr>
            <a:r>
              <a:rPr lang="en-US" sz="2400" dirty="0"/>
              <a:t>Siddharth Verma</a:t>
            </a:r>
          </a:p>
          <a:p>
            <a:pPr marL="0" lvl="0" indent="0" algn="ctr">
              <a:spcBef>
                <a:spcPts val="0"/>
              </a:spcBef>
              <a:buSzPts val="1200"/>
              <a:buNone/>
            </a:pPr>
            <a:r>
              <a:rPr lang="en-US" sz="2400" dirty="0" err="1"/>
              <a:t>Vakati</a:t>
            </a:r>
            <a:r>
              <a:rPr lang="en-US" sz="2400" dirty="0"/>
              <a:t> Narayani Nayani</a:t>
            </a:r>
          </a:p>
          <a:p>
            <a:pPr marL="0" lvl="0" indent="0" algn="ctr">
              <a:spcBef>
                <a:spcPts val="0"/>
              </a:spcBef>
              <a:buSzPts val="1200"/>
              <a:buNone/>
            </a:pPr>
            <a:r>
              <a:rPr lang="en-US" sz="2400" dirty="0"/>
              <a:t>Bhavy Hrishikesh</a:t>
            </a:r>
          </a:p>
          <a:p>
            <a:pPr marL="0" lvl="0" indent="0" algn="ctr">
              <a:spcBef>
                <a:spcPts val="0"/>
              </a:spcBef>
              <a:buSzPts val="1200"/>
              <a:buNone/>
            </a:pPr>
            <a:endParaRPr lang="en-US" sz="2400" dirty="0"/>
          </a:p>
        </p:txBody>
      </p:sp>
    </p:spTree>
  </p:cSld>
  <p:clrMapOvr>
    <a:masterClrMapping/>
  </p:clrMapOvr>
</p:sld>
</file>

<file path=ppt/theme/theme1.xml><?xml version="1.0" encoding="utf-8"?>
<a:theme xmlns:a="http://schemas.openxmlformats.org/drawingml/2006/main" name="PresentationGO">
  <a:themeElements>
    <a:clrScheme name="PGO - Blue Web">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TotalTime>
  <Words>1753</Words>
  <Application>Microsoft Office PowerPoint</Application>
  <PresentationFormat>Widescreen</PresentationFormat>
  <Paragraphs>190</Paragraphs>
  <Slides>20</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PresentationGO</vt:lpstr>
      <vt:lpstr>NewsAgg - A Full-Stack News Aggregator</vt:lpstr>
      <vt:lpstr>Introduction</vt:lpstr>
      <vt:lpstr>Project Objectives</vt:lpstr>
      <vt:lpstr>Architecture Diagram</vt:lpstr>
      <vt:lpstr>Project Scope</vt:lpstr>
      <vt:lpstr>Individual Contributions</vt:lpstr>
      <vt:lpstr>Project Architecture</vt:lpstr>
      <vt:lpstr>Key Concepts</vt:lpstr>
      <vt:lpstr>Challenges and Solutions</vt:lpstr>
      <vt:lpstr>Cost Analysis (Optional)</vt:lpstr>
      <vt:lpstr>Security Measures</vt:lpstr>
      <vt:lpstr>Lessons Learned</vt:lpstr>
      <vt:lpstr>Homepage displaying top headlines in a responsive card grid layout </vt:lpstr>
      <vt:lpstr>User registration form with category preference selection for feed personalization </vt:lpstr>
      <vt:lpstr>Category-filtered news feed and live search results page</vt:lpstr>
      <vt:lpstr>User's saved bookmarks and profile editor showing preferred categories </vt:lpstr>
      <vt:lpstr>Live Demo</vt:lpstr>
      <vt:lpstr>Future Scope</vt:lpstr>
      <vt:lpstr>Questions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Rishit</dc:creator>
  <cp:lastModifiedBy>Rishit Chaudhary</cp:lastModifiedBy>
  <cp:revision>6</cp:revision>
  <dcterms:modified xsi:type="dcterms:W3CDTF">2026-07-10T11:09:58Z</dcterms:modified>
</cp:coreProperties>
</file>