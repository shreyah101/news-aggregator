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Noto Sans TC" panose="020B0604020202020204" charset="-128"/>
      <p:regular r:id="rId13"/>
    </p:embeddedFont>
    <p:embeddedFont>
      <p:font typeface="Noto Sans TC Bold" panose="020B0604020202020204" charset="-128"/>
      <p:regular r:id="rId14"/>
    </p:embeddedFont>
    <p:embeddedFont>
      <p:font typeface="Sora Medium" panose="020B0604020202020204" charset="0"/>
      <p:regular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1962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0C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695722"/>
            <a:ext cx="6296860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News Aggregator</a:t>
            </a:r>
            <a:endParaRPr lang="en-US" sz="3150" dirty="0"/>
          </a:p>
        </p:txBody>
      </p:sp>
      <p:sp>
        <p:nvSpPr>
          <p:cNvPr id="4" name="Text 1"/>
          <p:cNvSpPr/>
          <p:nvPr/>
        </p:nvSpPr>
        <p:spPr>
          <a:xfrm>
            <a:off x="661475" y="1402556"/>
            <a:ext cx="69064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Full Stack MERN Web Application | College Internship Certification Project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661475" y="1793875"/>
            <a:ext cx="6296860" cy="891877"/>
          </a:xfrm>
          <a:prstGeom prst="roundRect">
            <a:avLst>
              <a:gd name="adj" fmla="val 2702"/>
            </a:avLst>
          </a:prstGeom>
          <a:solidFill>
            <a:srgbClr val="26262B"/>
          </a:solidFill>
          <a:ln/>
        </p:spPr>
      </p:sp>
      <p:sp>
        <p:nvSpPr>
          <p:cNvPr id="6" name="Text 3"/>
          <p:cNvSpPr/>
          <p:nvPr/>
        </p:nvSpPr>
        <p:spPr>
          <a:xfrm>
            <a:off x="822106" y="1954510"/>
            <a:ext cx="5975597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Shreya Sundli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822106" y="2287389"/>
            <a:ext cx="5975597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24BCE2546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61475" y="2822277"/>
            <a:ext cx="6296860" cy="891877"/>
          </a:xfrm>
          <a:prstGeom prst="roundRect">
            <a:avLst>
              <a:gd name="adj" fmla="val 2702"/>
            </a:avLst>
          </a:prstGeom>
          <a:solidFill>
            <a:srgbClr val="26262B"/>
          </a:solidFill>
          <a:ln/>
        </p:spPr>
      </p:sp>
      <p:sp>
        <p:nvSpPr>
          <p:cNvPr id="9" name="Text 6"/>
          <p:cNvSpPr/>
          <p:nvPr/>
        </p:nvSpPr>
        <p:spPr>
          <a:xfrm>
            <a:off x="822106" y="2982913"/>
            <a:ext cx="5975597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Siddharth Verma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22106" y="3315791"/>
            <a:ext cx="5975597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23BCT0159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61475" y="3850680"/>
            <a:ext cx="6296860" cy="891877"/>
          </a:xfrm>
          <a:prstGeom prst="roundRect">
            <a:avLst>
              <a:gd name="adj" fmla="val 2702"/>
            </a:avLst>
          </a:prstGeom>
          <a:solidFill>
            <a:srgbClr val="26262B"/>
          </a:solidFill>
          <a:ln/>
        </p:spPr>
      </p:sp>
      <p:sp>
        <p:nvSpPr>
          <p:cNvPr id="12" name="Text 9"/>
          <p:cNvSpPr/>
          <p:nvPr/>
        </p:nvSpPr>
        <p:spPr>
          <a:xfrm>
            <a:off x="822106" y="4011315"/>
            <a:ext cx="5975597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Vakati Narayani Nayani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822106" y="4344194"/>
            <a:ext cx="5975597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24BAI1200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61475" y="4879082"/>
            <a:ext cx="6296860" cy="891877"/>
          </a:xfrm>
          <a:prstGeom prst="roundRect">
            <a:avLst>
              <a:gd name="adj" fmla="val 2702"/>
            </a:avLst>
          </a:prstGeom>
          <a:solidFill>
            <a:srgbClr val="2626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106" y="5039717"/>
            <a:ext cx="5975597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Bhavy Hrishikesh</a:t>
            </a:r>
            <a:endParaRPr lang="en-US" sz="1550" dirty="0"/>
          </a:p>
        </p:txBody>
      </p:sp>
      <p:sp>
        <p:nvSpPr>
          <p:cNvPr id="16" name="Text 13"/>
          <p:cNvSpPr/>
          <p:nvPr/>
        </p:nvSpPr>
        <p:spPr>
          <a:xfrm>
            <a:off x="822106" y="5372596"/>
            <a:ext cx="5975597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22BIT0371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61475" y="5924550"/>
            <a:ext cx="69064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Course: ETHNUS MERN Full Stack · Faculty Guide: [Name] · Date: [Date]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58403"/>
            <a:ext cx="10868745" cy="581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Project Overview</a:t>
            </a:r>
            <a:endParaRPr lang="en-US" sz="36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157016"/>
            <a:ext cx="6000005" cy="34000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21644" y="1597720"/>
            <a:ext cx="4414826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What It Is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7121644" y="2071588"/>
            <a:ext cx="4414826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4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personalized news aggregator where users browse top headlines, search by keyword, filter by category, save bookmarks, and manage profile preferences.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7121644" y="3435846"/>
            <a:ext cx="4414826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Domain &amp; Type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121644" y="3909715"/>
            <a:ext cx="5024411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4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News · Full-Stack Web Application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121644" y="4388148"/>
            <a:ext cx="4414826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Learning Outcomes Demonstrated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121644" y="4862016"/>
            <a:ext cx="4414826" cy="13733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2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CRUD Operations</a:t>
            </a:r>
            <a:endParaRPr lang="en-US" sz="1450" dirty="0"/>
          </a:p>
          <a:p>
            <a:pPr marL="294640" indent="-294640" algn="l">
              <a:lnSpc>
                <a:spcPct val="132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User Authentication</a:t>
            </a:r>
            <a:endParaRPr lang="en-US" sz="1450" dirty="0"/>
          </a:p>
          <a:p>
            <a:pPr marL="294640" indent="-294640" algn="l">
              <a:lnSpc>
                <a:spcPct val="132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REST API Design</a:t>
            </a:r>
            <a:endParaRPr lang="en-US" sz="1450" dirty="0"/>
          </a:p>
          <a:p>
            <a:pPr marL="294640" indent="-294640" algn="l">
              <a:lnSpc>
                <a:spcPct val="132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MongoDB Integration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9620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Technology Stack — MERN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1564878"/>
            <a:ext cx="5339820" cy="1845171"/>
          </a:xfrm>
          <a:prstGeom prst="roundRect">
            <a:avLst>
              <a:gd name="adj" fmla="val 1537"/>
            </a:avLst>
          </a:prstGeom>
          <a:solidFill>
            <a:srgbClr val="26262B"/>
          </a:solidFill>
          <a:ln/>
        </p:spPr>
      </p:sp>
      <p:sp>
        <p:nvSpPr>
          <p:cNvPr id="4" name="Shape 2"/>
          <p:cNvSpPr/>
          <p:nvPr/>
        </p:nvSpPr>
        <p:spPr>
          <a:xfrm>
            <a:off x="850482" y="1753890"/>
            <a:ext cx="567021" cy="567035"/>
          </a:xfrm>
          <a:prstGeom prst="ellipse">
            <a:avLst/>
          </a:prstGeom>
          <a:solidFill>
            <a:srgbClr val="B380FF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6450" y="1909763"/>
            <a:ext cx="255085" cy="25509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0482" y="2509937"/>
            <a:ext cx="49618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 —&gt; MongoDB Atlas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850482" y="2918619"/>
            <a:ext cx="496180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Cloud NoSQL database via Mongoose ODM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190301" y="1564878"/>
            <a:ext cx="5339919" cy="1845171"/>
          </a:xfrm>
          <a:prstGeom prst="roundRect">
            <a:avLst>
              <a:gd name="adj" fmla="val 1537"/>
            </a:avLst>
          </a:prstGeom>
          <a:solidFill>
            <a:srgbClr val="26262B"/>
          </a:solidFill>
          <a:ln/>
        </p:spPr>
      </p:sp>
      <p:sp>
        <p:nvSpPr>
          <p:cNvPr id="9" name="Shape 6"/>
          <p:cNvSpPr/>
          <p:nvPr/>
        </p:nvSpPr>
        <p:spPr>
          <a:xfrm>
            <a:off x="6379308" y="1753890"/>
            <a:ext cx="567021" cy="567035"/>
          </a:xfrm>
          <a:prstGeom prst="ellipse">
            <a:avLst/>
          </a:prstGeom>
          <a:solidFill>
            <a:srgbClr val="B380FF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5276" y="1909763"/>
            <a:ext cx="255085" cy="25509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379308" y="2509937"/>
            <a:ext cx="49619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 —&gt; Express.js</a:t>
            </a:r>
            <a:endParaRPr lang="en-US" sz="1850" dirty="0"/>
          </a:p>
        </p:txBody>
      </p:sp>
      <p:sp>
        <p:nvSpPr>
          <p:cNvPr id="12" name="Text 8"/>
          <p:cNvSpPr/>
          <p:nvPr/>
        </p:nvSpPr>
        <p:spPr>
          <a:xfrm>
            <a:off x="6379308" y="2918619"/>
            <a:ext cx="496190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REST API backend with 11 routes and middleware stack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661475" y="3599061"/>
            <a:ext cx="5339820" cy="2147590"/>
          </a:xfrm>
          <a:prstGeom prst="roundRect">
            <a:avLst>
              <a:gd name="adj" fmla="val 1320"/>
            </a:avLst>
          </a:prstGeom>
          <a:solidFill>
            <a:srgbClr val="26262B"/>
          </a:solidFill>
          <a:ln/>
        </p:spPr>
      </p:sp>
      <p:sp>
        <p:nvSpPr>
          <p:cNvPr id="14" name="Shape 10"/>
          <p:cNvSpPr/>
          <p:nvPr/>
        </p:nvSpPr>
        <p:spPr>
          <a:xfrm>
            <a:off x="850482" y="3788073"/>
            <a:ext cx="567021" cy="567035"/>
          </a:xfrm>
          <a:prstGeom prst="ellipse">
            <a:avLst/>
          </a:prstGeom>
          <a:solidFill>
            <a:srgbClr val="B380FF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6450" y="3943945"/>
            <a:ext cx="255085" cy="25509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50482" y="4544120"/>
            <a:ext cx="49618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 — React.js</a:t>
            </a:r>
            <a:endParaRPr lang="en-US" sz="1850" dirty="0"/>
          </a:p>
        </p:txBody>
      </p:sp>
      <p:sp>
        <p:nvSpPr>
          <p:cNvPr id="17" name="Text 12"/>
          <p:cNvSpPr/>
          <p:nvPr/>
        </p:nvSpPr>
        <p:spPr>
          <a:xfrm>
            <a:off x="850482" y="4952802"/>
            <a:ext cx="496180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Functional components, hooks, Context API, React Router</a:t>
            </a:r>
            <a:endParaRPr lang="en-US" sz="1450" dirty="0"/>
          </a:p>
        </p:txBody>
      </p:sp>
      <p:sp>
        <p:nvSpPr>
          <p:cNvPr id="18" name="Shape 13"/>
          <p:cNvSpPr/>
          <p:nvPr/>
        </p:nvSpPr>
        <p:spPr>
          <a:xfrm>
            <a:off x="6190301" y="3599061"/>
            <a:ext cx="5339919" cy="2147590"/>
          </a:xfrm>
          <a:prstGeom prst="roundRect">
            <a:avLst>
              <a:gd name="adj" fmla="val 1320"/>
            </a:avLst>
          </a:prstGeom>
          <a:solidFill>
            <a:srgbClr val="26262B"/>
          </a:solidFill>
          <a:ln/>
        </p:spPr>
      </p:sp>
      <p:sp>
        <p:nvSpPr>
          <p:cNvPr id="19" name="Shape 14"/>
          <p:cNvSpPr/>
          <p:nvPr/>
        </p:nvSpPr>
        <p:spPr>
          <a:xfrm>
            <a:off x="6379308" y="3788073"/>
            <a:ext cx="567021" cy="567035"/>
          </a:xfrm>
          <a:prstGeom prst="ellipse">
            <a:avLst/>
          </a:prstGeom>
          <a:solidFill>
            <a:srgbClr val="B380FF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35276" y="3943945"/>
            <a:ext cx="255085" cy="25509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379308" y="4544120"/>
            <a:ext cx="49619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N — Node.js</a:t>
            </a:r>
            <a:endParaRPr lang="en-US" sz="1850" dirty="0"/>
          </a:p>
        </p:txBody>
      </p:sp>
      <p:sp>
        <p:nvSpPr>
          <p:cNvPr id="22" name="Text 16"/>
          <p:cNvSpPr/>
          <p:nvPr/>
        </p:nvSpPr>
        <p:spPr>
          <a:xfrm>
            <a:off x="6379308" y="4952802"/>
            <a:ext cx="496190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JavaScript runtime powering the server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661475" y="5959277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Supporting tools: JWT, bcrypt, Tailwind CSS, Axios, Helmet, CORS, express-validator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7645"/>
            <a:ext cx="10868745" cy="515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System Architecture</a:t>
            </a:r>
            <a:endParaRPr lang="en-US" sz="32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164" y="1330027"/>
            <a:ext cx="9701267" cy="418355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97915" y="4720227"/>
            <a:ext cx="2313863" cy="2751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MongoDB / NewsAPI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1897915" y="3751800"/>
            <a:ext cx="2200914" cy="2751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Render API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897915" y="2793156"/>
            <a:ext cx="2200914" cy="2751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Vercel Frontend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897915" y="1824730"/>
            <a:ext cx="2200914" cy="2751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User Browser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61475" y="5675213"/>
            <a:ext cx="10868745" cy="655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1250"/>
              </a:spcAft>
              <a:buNone/>
            </a:pPr>
            <a:r>
              <a:rPr lang="en-US" sz="12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Frontend hosted on Vercel, backend on Render, and database on MongoDB Atlas.</a:t>
            </a:r>
            <a:endParaRPr lang="en-US" sz="12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External news data is sourced from NewsAPI.org with a local JSON fallback when no API key is available.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43930"/>
            <a:ext cx="10868745" cy="561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Core Features</a:t>
            </a:r>
            <a:endParaRPr lang="en-US" sz="3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546225"/>
            <a:ext cx="359064" cy="35907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2118519"/>
            <a:ext cx="5327715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Authentication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661475" y="2501305"/>
            <a:ext cx="5327715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Registration, login, and logout with JWT-based session management</a:t>
            </a:r>
            <a:endParaRPr lang="en-US" sz="1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02406" y="1546225"/>
            <a:ext cx="359064" cy="35907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202406" y="2118519"/>
            <a:ext cx="5327814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Browse &amp; Filter</a:t>
            </a: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6202406" y="2501305"/>
            <a:ext cx="5327814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Latest headlines with category-based filtering</a:t>
            </a:r>
            <a:endParaRPr lang="en-US" sz="14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3402608"/>
            <a:ext cx="359064" cy="35907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61475" y="3974902"/>
            <a:ext cx="5327715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Search</a:t>
            </a:r>
            <a:endParaRPr lang="en-US" sz="1750" dirty="0"/>
          </a:p>
        </p:txBody>
      </p:sp>
      <p:sp>
        <p:nvSpPr>
          <p:cNvPr id="11" name="Text 6"/>
          <p:cNvSpPr/>
          <p:nvPr/>
        </p:nvSpPr>
        <p:spPr>
          <a:xfrm>
            <a:off x="661475" y="4357688"/>
            <a:ext cx="5327715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Keyword-based news search across all sources</a:t>
            </a:r>
            <a:endParaRPr lang="en-US" sz="14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02406" y="3402608"/>
            <a:ext cx="359064" cy="35907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202406" y="3974902"/>
            <a:ext cx="5327814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Bookmarks</a:t>
            </a:r>
            <a:endParaRPr lang="en-US" sz="1750" dirty="0"/>
          </a:p>
        </p:txBody>
      </p:sp>
      <p:sp>
        <p:nvSpPr>
          <p:cNvPr id="14" name="Text 8"/>
          <p:cNvSpPr/>
          <p:nvPr/>
        </p:nvSpPr>
        <p:spPr>
          <a:xfrm>
            <a:off x="6202406" y="4357688"/>
            <a:ext cx="5327814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Save and remove articles for later reading</a:t>
            </a:r>
            <a:endParaRPr lang="en-US" sz="14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1475" y="4978896"/>
            <a:ext cx="359064" cy="359073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61475" y="5551190"/>
            <a:ext cx="5327715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Profile &amp; Preferences</a:t>
            </a:r>
            <a:endParaRPr lang="en-US" sz="1750" dirty="0"/>
          </a:p>
        </p:txBody>
      </p:sp>
      <p:sp>
        <p:nvSpPr>
          <p:cNvPr id="17" name="Text 10"/>
          <p:cNvSpPr/>
          <p:nvPr/>
        </p:nvSpPr>
        <p:spPr>
          <a:xfrm>
            <a:off x="661475" y="5933976"/>
            <a:ext cx="5327715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Personalized feed based on preferred categories</a:t>
            </a:r>
            <a:endParaRPr lang="en-US" sz="14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02406" y="4978896"/>
            <a:ext cx="359064" cy="359073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6202406" y="5551190"/>
            <a:ext cx="5327814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Responsive UI</a:t>
            </a:r>
            <a:endParaRPr lang="en-US" sz="1750" dirty="0"/>
          </a:p>
        </p:txBody>
      </p:sp>
      <p:sp>
        <p:nvSpPr>
          <p:cNvPr id="20" name="Text 12"/>
          <p:cNvSpPr/>
          <p:nvPr/>
        </p:nvSpPr>
        <p:spPr>
          <a:xfrm>
            <a:off x="6202406" y="5933976"/>
            <a:ext cx="5327814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Fully adaptive layout for desktop, tablet, and mobile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42925"/>
            <a:ext cx="10868745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Authentication &amp; Security</a:t>
            </a:r>
            <a:endParaRPr lang="en-US" sz="33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442" y="2045097"/>
            <a:ext cx="6227408" cy="352891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02189" y="1457226"/>
            <a:ext cx="3534282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Password Security</a:t>
            </a:r>
            <a:endParaRPr lang="en-US" sz="1650" dirty="0"/>
          </a:p>
        </p:txBody>
      </p:sp>
      <p:sp>
        <p:nvSpPr>
          <p:cNvPr id="5" name="Text 2"/>
          <p:cNvSpPr/>
          <p:nvPr/>
        </p:nvSpPr>
        <p:spPr>
          <a:xfrm>
            <a:off x="8002189" y="1876028"/>
            <a:ext cx="3534282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Hashed with </a:t>
            </a:r>
            <a:r>
              <a:rPr lang="en-US" sz="1300" b="1" dirty="0">
                <a:solidFill>
                  <a:srgbClr val="E0D6DE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bcrypt</a:t>
            </a:r>
            <a:r>
              <a:rPr lang="en-US" sz="13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at 10 salt rounds before storage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002189" y="2546251"/>
            <a:ext cx="3534282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Token-Based Sessions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8002189" y="2965053"/>
            <a:ext cx="3534282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JWT issued on login/register with </a:t>
            </a:r>
            <a:r>
              <a:rPr lang="en-US" sz="1300" b="1" dirty="0">
                <a:solidFill>
                  <a:srgbClr val="E0D6DE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30-day expiry</a:t>
            </a:r>
            <a:r>
              <a:rPr lang="en-US" sz="13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; persisted via </a:t>
            </a:r>
            <a:r>
              <a:rPr lang="en-US" sz="1300" b="1" dirty="0">
                <a:solidFill>
                  <a:srgbClr val="E0D6DE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localStorage + AuthContext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02189" y="3893840"/>
            <a:ext cx="3534282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Route Protection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8002189" y="4312642"/>
            <a:ext cx="3534282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Backend routes secured via </a:t>
            </a:r>
            <a:r>
              <a:rPr lang="en-US" sz="1300" b="1" dirty="0">
                <a:solidFill>
                  <a:srgbClr val="E0D6DE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authMiddleware</a:t>
            </a:r>
            <a:r>
              <a:rPr lang="en-US" sz="13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; frontend routes guarded by </a:t>
            </a:r>
            <a:r>
              <a:rPr lang="en-US" sz="1300" b="1" dirty="0">
                <a:solidFill>
                  <a:srgbClr val="E0D6DE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ProtectedRoute.jsx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02189" y="5241429"/>
            <a:ext cx="3534282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Security Middleware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8002189" y="5660231"/>
            <a:ext cx="3534282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Helmet, CORS, and express-validator input validation on all endpoints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693664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CRUD Operations Demonstrated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2662337"/>
            <a:ext cx="10868745" cy="2501900"/>
          </a:xfrm>
          <a:prstGeom prst="roundRect">
            <a:avLst>
              <a:gd name="adj" fmla="val 1133"/>
            </a:avLst>
          </a:prstGeom>
          <a:noFill/>
          <a:ln w="6350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1475" y="3213795"/>
            <a:ext cx="10868745" cy="1181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61475" y="4064496"/>
            <a:ext cx="10868745" cy="1181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661475" y="4612779"/>
            <a:ext cx="10868745" cy="1181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839074" y="2662337"/>
            <a:ext cx="11814" cy="2501900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67924" y="2668687"/>
            <a:ext cx="2171150" cy="545108"/>
          </a:xfrm>
          <a:prstGeom prst="rect">
            <a:avLst/>
          </a:prstGeom>
          <a:solidFill>
            <a:srgbClr val="97B8FF"/>
          </a:solidFill>
          <a:ln/>
        </p:spPr>
      </p:sp>
      <p:sp>
        <p:nvSpPr>
          <p:cNvPr id="9" name="Text 7"/>
          <p:cNvSpPr/>
          <p:nvPr/>
        </p:nvSpPr>
        <p:spPr>
          <a:xfrm>
            <a:off x="856931" y="2788444"/>
            <a:ext cx="239954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CREATE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031255" y="2788444"/>
            <a:ext cx="8913193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Register new user account · Save a bookmark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67924" y="3213795"/>
            <a:ext cx="2171150" cy="850702"/>
          </a:xfrm>
          <a:prstGeom prst="rect">
            <a:avLst/>
          </a:prstGeom>
          <a:solidFill>
            <a:srgbClr val="97B8FF"/>
          </a:solidFill>
          <a:ln/>
        </p:spPr>
      </p:sp>
      <p:sp>
        <p:nvSpPr>
          <p:cNvPr id="12" name="Text 10"/>
          <p:cNvSpPr/>
          <p:nvPr/>
        </p:nvSpPr>
        <p:spPr>
          <a:xfrm>
            <a:off x="856931" y="3336727"/>
            <a:ext cx="239954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READ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031255" y="3336727"/>
            <a:ext cx="8303608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Fetch news headlines · Retrieve user profile · Load bookmarks · Category feed · Search results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67924" y="4064496"/>
            <a:ext cx="2171150" cy="548283"/>
          </a:xfrm>
          <a:prstGeom prst="rect">
            <a:avLst/>
          </a:prstGeom>
          <a:solidFill>
            <a:srgbClr val="97B8FF"/>
          </a:solidFill>
          <a:ln/>
        </p:spPr>
      </p:sp>
      <p:sp>
        <p:nvSpPr>
          <p:cNvPr id="15" name="Text 13"/>
          <p:cNvSpPr/>
          <p:nvPr/>
        </p:nvSpPr>
        <p:spPr>
          <a:xfrm>
            <a:off x="856931" y="4187428"/>
            <a:ext cx="239954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UPDATE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031255" y="4187428"/>
            <a:ext cx="8913193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Update user profile details · Modify preferred news categories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67924" y="4612779"/>
            <a:ext cx="2171150" cy="545108"/>
          </a:xfrm>
          <a:prstGeom prst="rect">
            <a:avLst/>
          </a:prstGeom>
          <a:solidFill>
            <a:srgbClr val="97B8FF"/>
          </a:solidFill>
          <a:ln/>
        </p:spPr>
      </p:sp>
      <p:sp>
        <p:nvSpPr>
          <p:cNvPr id="18" name="Text 16"/>
          <p:cNvSpPr/>
          <p:nvPr/>
        </p:nvSpPr>
        <p:spPr>
          <a:xfrm>
            <a:off x="856931" y="4735711"/>
            <a:ext cx="239954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DELETE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3031255" y="4735711"/>
            <a:ext cx="8913193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Remove a saved bookmark from the user's collection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79165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Database &amp; API Design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661475" y="1553964"/>
            <a:ext cx="5249930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MongoDB Collections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661475" y="1911152"/>
            <a:ext cx="5249930" cy="477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33680" indent="-233680" algn="l">
              <a:lnSpc>
                <a:spcPct val="120000"/>
              </a:lnSpc>
              <a:buSzPct val="100000"/>
              <a:buChar char="•"/>
            </a:pPr>
            <a:r>
              <a:rPr lang="en-US" sz="1150" b="1" dirty="0">
                <a:solidFill>
                  <a:srgbClr val="E0D6DE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Users</a:t>
            </a: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- Account credentials, profile data, category preferences</a:t>
            </a:r>
            <a:endParaRPr lang="en-US" sz="1150" dirty="0"/>
          </a:p>
          <a:p>
            <a:pPr marL="233680" indent="-233680" algn="l">
              <a:lnSpc>
                <a:spcPct val="120000"/>
              </a:lnSpc>
              <a:buSzPct val="100000"/>
              <a:buChar char="•"/>
            </a:pPr>
            <a:r>
              <a:rPr lang="en-US" sz="1150" b="1" dirty="0">
                <a:solidFill>
                  <a:srgbClr val="E0D6DE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Bookmarks</a:t>
            </a: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- Saved articles linked to user via reference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61475" y="2509738"/>
            <a:ext cx="5249930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REST API Endpoints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61475" y="2882007"/>
            <a:ext cx="5249930" cy="3060700"/>
          </a:xfrm>
          <a:prstGeom prst="roundRect">
            <a:avLst>
              <a:gd name="adj" fmla="val 741"/>
            </a:avLst>
          </a:prstGeom>
          <a:noFill/>
          <a:ln w="6350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1475" y="3266976"/>
            <a:ext cx="5249930" cy="9451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61475" y="3648770"/>
            <a:ext cx="5249930" cy="9451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61475" y="4030563"/>
            <a:ext cx="5249930" cy="9451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61475" y="4412357"/>
            <a:ext cx="5249930" cy="9451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661475" y="4794151"/>
            <a:ext cx="5249930" cy="9451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661475" y="5175945"/>
            <a:ext cx="5249930" cy="9451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61475" y="5557738"/>
            <a:ext cx="5249930" cy="9451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819130" y="2967236"/>
            <a:ext cx="3158748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E0D6DE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POST /api/auth/register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670704" y="2967236"/>
            <a:ext cx="2692730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Register new user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19130" y="3349030"/>
            <a:ext cx="3158748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E0D6DE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POST /api/auth/login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670704" y="3349030"/>
            <a:ext cx="2692730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Authenticate and issue JWT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19130" y="3730823"/>
            <a:ext cx="3158748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E0D6DE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GET /api/news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670704" y="3730823"/>
            <a:ext cx="2692730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Fetch latest headlines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19130" y="4112617"/>
            <a:ext cx="3158748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E0D6DE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GET /api/news/category/:name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670704" y="4112617"/>
            <a:ext cx="2692730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Filter by category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19130" y="4494411"/>
            <a:ext cx="3158748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E0D6DE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GET /api/news/search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670704" y="4494411"/>
            <a:ext cx="2692730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Keyword search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19130" y="4876205"/>
            <a:ext cx="3158748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E0D6DE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POST /api/bookmarks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670704" y="4876205"/>
            <a:ext cx="2692730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Save bookmark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19130" y="5257998"/>
            <a:ext cx="3158748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E0D6DE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GET /api/bookmarks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670704" y="5257998"/>
            <a:ext cx="2692730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List saved articles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19130" y="5639792"/>
            <a:ext cx="3158748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E0D6DE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DELETE /api/bookmarks/:id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670704" y="5639792"/>
            <a:ext cx="2692730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Remove bookmark</a:t>
            </a:r>
            <a:endParaRPr lang="en-US" sz="1150" dirty="0"/>
          </a:p>
        </p:txBody>
      </p:sp>
      <p:pic>
        <p:nvPicPr>
          <p:cNvPr id="3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1594" y="1655862"/>
            <a:ext cx="4199924" cy="420002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50875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Team Contributions</a:t>
            </a:r>
            <a:endParaRPr lang="en-US" sz="29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365250"/>
            <a:ext cx="5373851" cy="236041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31730" y="1958876"/>
            <a:ext cx="5033340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Shreya Sundli · 24BCE2546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831730" y="2267645"/>
            <a:ext cx="5033340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E0D6DE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Frontend Development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831730" y="2557859"/>
            <a:ext cx="5033340" cy="997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33680" indent="-23368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React UI &amp; component design</a:t>
            </a:r>
            <a:endParaRPr lang="en-US" sz="1150" dirty="0"/>
          </a:p>
          <a:p>
            <a:pPr marL="233680" indent="-23368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Routing &amp; navigation</a:t>
            </a:r>
            <a:endParaRPr lang="en-US" sz="1150" dirty="0"/>
          </a:p>
          <a:p>
            <a:pPr marL="233680" indent="-23368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Tailwind CSS styling</a:t>
            </a:r>
            <a:endParaRPr lang="en-US" sz="1150" dirty="0"/>
          </a:p>
          <a:p>
            <a:pPr marL="233680" indent="-23368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Responsive layout</a:t>
            </a:r>
            <a:endParaRPr lang="en-US" sz="11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56270" y="1365250"/>
            <a:ext cx="5373950" cy="236041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326525" y="1958876"/>
            <a:ext cx="5033440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Siddharth Verma · 23BCT0159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6326525" y="2267645"/>
            <a:ext cx="5033440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E0D6DE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Backend Development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326525" y="2557859"/>
            <a:ext cx="5033440" cy="997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33680" indent="-23368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Express.js REST API</a:t>
            </a:r>
            <a:endParaRPr lang="en-US" sz="1150" dirty="0"/>
          </a:p>
          <a:p>
            <a:pPr marL="233680" indent="-23368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Controllers &amp; routes</a:t>
            </a:r>
            <a:endParaRPr lang="en-US" sz="1150" dirty="0"/>
          </a:p>
          <a:p>
            <a:pPr marL="233680" indent="-23368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Middleware stack</a:t>
            </a:r>
            <a:endParaRPr lang="en-US" sz="1150" dirty="0"/>
          </a:p>
          <a:p>
            <a:pPr marL="233680" indent="-23368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MVC architecture</a:t>
            </a:r>
            <a:endParaRPr lang="en-US" sz="11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3846612"/>
            <a:ext cx="5373851" cy="236041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31730" y="4440238"/>
            <a:ext cx="5033340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Vakati Narayani Nayani · 24BAI1200</a:t>
            </a:r>
            <a:endParaRPr lang="en-US" sz="1450" dirty="0"/>
          </a:p>
        </p:txBody>
      </p:sp>
      <p:sp>
        <p:nvSpPr>
          <p:cNvPr id="13" name="Text 8"/>
          <p:cNvSpPr/>
          <p:nvPr/>
        </p:nvSpPr>
        <p:spPr>
          <a:xfrm>
            <a:off x="831730" y="4749006"/>
            <a:ext cx="5033340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E0D6DE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Database &amp; Auth</a:t>
            </a:r>
            <a:endParaRPr lang="en-US" sz="1150" dirty="0"/>
          </a:p>
        </p:txBody>
      </p:sp>
      <p:sp>
        <p:nvSpPr>
          <p:cNvPr id="14" name="Text 9"/>
          <p:cNvSpPr/>
          <p:nvPr/>
        </p:nvSpPr>
        <p:spPr>
          <a:xfrm>
            <a:off x="831730" y="5039221"/>
            <a:ext cx="5033340" cy="997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33680" indent="-23368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MongoDB schema design</a:t>
            </a:r>
            <a:endParaRPr lang="en-US" sz="1150" dirty="0"/>
          </a:p>
          <a:p>
            <a:pPr marL="233680" indent="-23368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Mongoose models</a:t>
            </a:r>
            <a:endParaRPr lang="en-US" sz="1150" dirty="0"/>
          </a:p>
          <a:p>
            <a:pPr marL="233680" indent="-23368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JWT authentication</a:t>
            </a:r>
            <a:endParaRPr lang="en-US" sz="1150" dirty="0"/>
          </a:p>
          <a:p>
            <a:pPr marL="233680" indent="-23368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bcrypt security</a:t>
            </a:r>
            <a:endParaRPr lang="en-US" sz="115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56270" y="3846612"/>
            <a:ext cx="5373950" cy="236041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326525" y="4440238"/>
            <a:ext cx="5033440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Bhavy Hrishikesh · 22BIT0371</a:t>
            </a:r>
            <a:endParaRPr lang="en-US" sz="1450" dirty="0"/>
          </a:p>
        </p:txBody>
      </p:sp>
      <p:sp>
        <p:nvSpPr>
          <p:cNvPr id="17" name="Text 11"/>
          <p:cNvSpPr/>
          <p:nvPr/>
        </p:nvSpPr>
        <p:spPr>
          <a:xfrm>
            <a:off x="6326525" y="4749006"/>
            <a:ext cx="5033440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E0D6DE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Integration &amp; Deployment</a:t>
            </a:r>
            <a:endParaRPr lang="en-US" sz="1150" dirty="0"/>
          </a:p>
        </p:txBody>
      </p:sp>
      <p:sp>
        <p:nvSpPr>
          <p:cNvPr id="18" name="Text 12"/>
          <p:cNvSpPr/>
          <p:nvPr/>
        </p:nvSpPr>
        <p:spPr>
          <a:xfrm>
            <a:off x="6326525" y="5039221"/>
            <a:ext cx="5033440" cy="997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33680" indent="-23368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NewsAPI + fallback logic</a:t>
            </a:r>
            <a:endParaRPr lang="en-US" sz="1150" dirty="0"/>
          </a:p>
          <a:p>
            <a:pPr marL="233680" indent="-23368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Vercel &amp; Render deployment</a:t>
            </a:r>
            <a:endParaRPr lang="en-US" sz="1150" dirty="0"/>
          </a:p>
          <a:p>
            <a:pPr marL="233680" indent="-23368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Testing &amp; QA</a:t>
            </a:r>
            <a:endParaRPr lang="en-US" sz="1150" dirty="0"/>
          </a:p>
          <a:p>
            <a:pPr marL="233680" indent="-23368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README documentation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92559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Conclusion &amp; Future Scope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855688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Project Summary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661475" y="2339975"/>
            <a:ext cx="520379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Successfully built a full-stack MERN application demonstrating </a:t>
            </a:r>
            <a:r>
              <a:rPr lang="en-US" sz="1450" b="1" dirty="0">
                <a:solidFill>
                  <a:srgbClr val="E0D6DE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authentication</a:t>
            </a:r>
            <a:r>
              <a:rPr lang="en-US" sz="14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, </a:t>
            </a:r>
            <a:r>
              <a:rPr lang="en-US" sz="1450" b="1" dirty="0">
                <a:solidFill>
                  <a:srgbClr val="E0D6DE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CRUD operations</a:t>
            </a:r>
            <a:r>
              <a:rPr lang="en-US" sz="14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, </a:t>
            </a:r>
            <a:r>
              <a:rPr lang="en-US" sz="1450" b="1" dirty="0">
                <a:solidFill>
                  <a:srgbClr val="E0D6DE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REST API design</a:t>
            </a:r>
            <a:r>
              <a:rPr lang="en-US" sz="14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, and </a:t>
            </a:r>
            <a:r>
              <a:rPr lang="en-US" sz="1450" b="1" dirty="0">
                <a:solidFill>
                  <a:srgbClr val="E0D6DE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responsive UI</a:t>
            </a:r>
            <a:r>
              <a:rPr lang="en-US" sz="14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- meeting all certification learning outcomes.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61475" y="3738662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Future Improvements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661475" y="4222948"/>
            <a:ext cx="5203794" cy="17764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Dark mode toggle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Infinite scroll for news feed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Push notifications for breaking news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Admin dashboard &amp; analytics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Social sharing integration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196651" y="1666677"/>
            <a:ext cx="5476043" cy="4398764"/>
          </a:xfrm>
          <a:prstGeom prst="roundRect">
            <a:avLst>
              <a:gd name="adj" fmla="val 645"/>
            </a:avLst>
          </a:prstGeom>
          <a:solidFill>
            <a:srgbClr val="97B8FF"/>
          </a:solidFill>
          <a:ln/>
        </p:spPr>
      </p:sp>
      <p:sp>
        <p:nvSpPr>
          <p:cNvPr id="8" name="Text 6"/>
          <p:cNvSpPr/>
          <p:nvPr/>
        </p:nvSpPr>
        <p:spPr>
          <a:xfrm>
            <a:off x="6385658" y="1855688"/>
            <a:ext cx="509802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Thank You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6385658" y="2339975"/>
            <a:ext cx="570761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We appreciate your time and evaluation.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385658" y="2902248"/>
            <a:ext cx="5098029" cy="25400"/>
          </a:xfrm>
          <a:prstGeom prst="roundRect">
            <a:avLst>
              <a:gd name="adj" fmla="val 59999"/>
            </a:avLst>
          </a:prstGeom>
          <a:solidFill>
            <a:srgbClr val="000000">
              <a:alpha val="5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6385658" y="3187502"/>
            <a:ext cx="5098029" cy="1077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Shreya Sundli · Siddharth Verma</a:t>
            </a:r>
            <a:endParaRPr lang="en-US" sz="1450" dirty="0"/>
          </a:p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dirty="0">
                <a:solidFill>
                  <a:srgbClr val="000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Vakati Narayani Nayani · Bhavy Hrishikesh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Questions &amp; Discussion Welcome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643</Words>
  <Application>Microsoft Office PowerPoint</Application>
  <PresentationFormat>Widescreen</PresentationFormat>
  <Paragraphs>139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Noto Sans TC Bold</vt:lpstr>
      <vt:lpstr>Arial</vt:lpstr>
      <vt:lpstr>Noto Sans TC</vt:lpstr>
      <vt:lpstr>Sora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Rishit</dc:creator>
  <cp:lastModifiedBy>Rishit Chaudhary</cp:lastModifiedBy>
  <cp:revision>2</cp:revision>
  <dcterms:created xsi:type="dcterms:W3CDTF">2026-07-09T16:06:41Z</dcterms:created>
  <dcterms:modified xsi:type="dcterms:W3CDTF">2026-07-09T16:08:33Z</dcterms:modified>
</cp:coreProperties>
</file>